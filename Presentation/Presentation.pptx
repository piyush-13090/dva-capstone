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803030501040103" pitchFamily="34" charset="0"/>
      <p:regular r:id="rId15"/>
      <p:bold r:id="rId16"/>
    </p:embeddedFont>
    <p:embeddedFont>
      <p:font typeface="Canva Sans Bold" panose="020B0803030501040103" pitchFamily="34" charset="0"/>
      <p:regular r:id="rId15"/>
      <p:bold r:id="rId15"/>
    </p:embeddedFont>
    <p:embeddedFont>
      <p:font typeface="DM Serif Display" pitchFamily="2" charset="0"/>
      <p:regular r:id="rId17"/>
      <p:italic r:id="rId18"/>
    </p:embeddedFont>
    <p:embeddedFont>
      <p:font typeface="Open Sauce" panose="020B0803030501040103" pitchFamily="34" charset="0"/>
      <p:regular r:id="rId15"/>
      <p:bold r:id="rId19"/>
    </p:embeddedFont>
    <p:embeddedFont>
      <p:font typeface="Open Sauce Bold" panose="020B0803030501040103" pitchFamily="34" charset="0"/>
      <p:regular r:id="rId15"/>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autoAdjust="0"/>
    <p:restoredTop sz="94626" autoAdjust="0"/>
  </p:normalViewPr>
  <p:slideViewPr>
    <p:cSldViewPr>
      <p:cViewPr varScale="1">
        <p:scale>
          <a:sx n="80" d="100"/>
          <a:sy n="80" d="100"/>
        </p:scale>
        <p:origin x="408"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alfarisbachmid/dirty-financial-transactions-dataset/data"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9279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txBody>
          <a:bodyPr/>
          <a:lstStyle/>
          <a:p>
            <a:endParaRPr lang="en-US"/>
          </a:p>
        </p:txBody>
      </p:sp>
      <p:sp>
        <p:nvSpPr>
          <p:cNvPr id="3" name="TextBox 3"/>
          <p:cNvSpPr txBox="1"/>
          <p:nvPr/>
        </p:nvSpPr>
        <p:spPr>
          <a:xfrm>
            <a:off x="3753786" y="280001"/>
            <a:ext cx="10458133" cy="1106200"/>
          </a:xfrm>
          <a:prstGeom prst="rect">
            <a:avLst/>
          </a:prstGeom>
        </p:spPr>
        <p:txBody>
          <a:bodyPr wrap="square" lIns="0" tIns="0" rIns="0" bIns="0" rtlCol="0" anchor="t">
            <a:spAutoFit/>
          </a:bodyPr>
          <a:lstStyle/>
          <a:p>
            <a:pPr algn="ctr">
              <a:lnSpc>
                <a:spcPts val="8959"/>
              </a:lnSpc>
            </a:pPr>
            <a:r>
              <a:rPr lang="en-US" sz="6399" dirty="0">
                <a:solidFill>
                  <a:srgbClr val="000000"/>
                </a:solidFill>
                <a:latin typeface="DM Serif Display"/>
                <a:ea typeface="DM Serif Display"/>
                <a:cs typeface="DM Serif Display"/>
                <a:sym typeface="DM Serif Display"/>
              </a:rPr>
              <a:t> DVA CAPSTONE PROJECT</a:t>
            </a:r>
          </a:p>
        </p:txBody>
      </p:sp>
      <p:sp>
        <p:nvSpPr>
          <p:cNvPr id="4" name="TextBox 4"/>
          <p:cNvSpPr txBox="1"/>
          <p:nvPr/>
        </p:nvSpPr>
        <p:spPr>
          <a:xfrm>
            <a:off x="2248300" y="1870865"/>
            <a:ext cx="14123053" cy="1180465"/>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Enhancing Financial Decision-Making Through Data Quality Remediation in Retail Transactions</a:t>
            </a:r>
          </a:p>
        </p:txBody>
      </p:sp>
      <p:sp>
        <p:nvSpPr>
          <p:cNvPr id="5" name="TextBox 5"/>
          <p:cNvSpPr txBox="1"/>
          <p:nvPr/>
        </p:nvSpPr>
        <p:spPr>
          <a:xfrm>
            <a:off x="6790987" y="3728720"/>
            <a:ext cx="4383732" cy="1414780"/>
          </a:xfrm>
          <a:prstGeom prst="rect">
            <a:avLst/>
          </a:prstGeom>
        </p:spPr>
        <p:txBody>
          <a:bodyPr lIns="0" tIns="0" rIns="0" bIns="0" rtlCol="0" anchor="t">
            <a:spAutoFit/>
          </a:bodyPr>
          <a:lstStyle/>
          <a:p>
            <a:pPr algn="ctr">
              <a:lnSpc>
                <a:spcPts val="4199"/>
              </a:lnSpc>
            </a:pPr>
            <a:r>
              <a:rPr lang="en-US" sz="2999" b="1">
                <a:solidFill>
                  <a:srgbClr val="000000"/>
                </a:solidFill>
                <a:latin typeface="Canva Sans Bold"/>
                <a:ea typeface="Canva Sans Bold"/>
                <a:cs typeface="Canva Sans Bold"/>
                <a:sym typeface="Canva Sans Bold"/>
              </a:rPr>
              <a:t>Sector</a:t>
            </a:r>
          </a:p>
          <a:p>
            <a:pPr algn="ctr">
              <a:lnSpc>
                <a:spcPts val="3639"/>
              </a:lnSpc>
            </a:pPr>
            <a:r>
              <a:rPr lang="en-US" sz="2599" b="1">
                <a:solidFill>
                  <a:srgbClr val="000000"/>
                </a:solidFill>
                <a:latin typeface="Canva Sans Bold"/>
                <a:ea typeface="Canva Sans Bold"/>
                <a:cs typeface="Canva Sans Bold"/>
                <a:sym typeface="Canva Sans Bold"/>
              </a:rPr>
              <a:t> Retail &amp; E-commerce (B2C)</a:t>
            </a:r>
          </a:p>
          <a:p>
            <a:pPr algn="ctr">
              <a:lnSpc>
                <a:spcPts val="3639"/>
              </a:lnSpc>
            </a:pPr>
            <a:endParaRPr lang="en-US" sz="2599" b="1">
              <a:solidFill>
                <a:srgbClr val="000000"/>
              </a:solidFill>
              <a:latin typeface="Canva Sans Bold"/>
              <a:ea typeface="Canva Sans Bold"/>
              <a:cs typeface="Canva Sans Bold"/>
              <a:sym typeface="Canva Sans Bold"/>
            </a:endParaRPr>
          </a:p>
        </p:txBody>
      </p:sp>
      <p:sp>
        <p:nvSpPr>
          <p:cNvPr id="6" name="TextBox 6"/>
          <p:cNvSpPr txBox="1"/>
          <p:nvPr/>
        </p:nvSpPr>
        <p:spPr>
          <a:xfrm>
            <a:off x="10984613" y="5297643"/>
            <a:ext cx="6091982" cy="1019175"/>
          </a:xfrm>
          <a:prstGeom prst="rect">
            <a:avLst/>
          </a:prstGeom>
        </p:spPr>
        <p:txBody>
          <a:bodyPr lIns="0" tIns="0" rIns="0" bIns="0" rtlCol="0" anchor="t">
            <a:spAutoFit/>
          </a:bodyPr>
          <a:lstStyle/>
          <a:p>
            <a:pPr algn="ctr">
              <a:lnSpc>
                <a:spcPts val="4199"/>
              </a:lnSpc>
            </a:pPr>
            <a:r>
              <a:rPr lang="en-US" sz="2999" b="1">
                <a:solidFill>
                  <a:srgbClr val="000000"/>
                </a:solidFill>
                <a:latin typeface="Canva Sans Bold"/>
                <a:ea typeface="Canva Sans Bold"/>
                <a:cs typeface="Canva Sans Bold"/>
                <a:sym typeface="Canva Sans Bold"/>
              </a:rPr>
              <a:t>Team Details</a:t>
            </a:r>
          </a:p>
          <a:p>
            <a:pPr algn="ctr">
              <a:lnSpc>
                <a:spcPts val="4199"/>
              </a:lnSpc>
            </a:pPr>
            <a:r>
              <a:rPr lang="en-US" sz="2999" b="1">
                <a:solidFill>
                  <a:srgbClr val="000000"/>
                </a:solidFill>
                <a:latin typeface="Canva Sans Bold"/>
                <a:ea typeface="Canva Sans Bold"/>
                <a:cs typeface="Canva Sans Bold"/>
                <a:sym typeface="Canva Sans Bold"/>
              </a:rPr>
              <a:t>Group: G-9 | Section: B</a:t>
            </a:r>
          </a:p>
        </p:txBody>
      </p:sp>
      <p:sp>
        <p:nvSpPr>
          <p:cNvPr id="7" name="TextBox 7"/>
          <p:cNvSpPr txBox="1"/>
          <p:nvPr/>
        </p:nvSpPr>
        <p:spPr>
          <a:xfrm>
            <a:off x="435486" y="5457346"/>
            <a:ext cx="7379061" cy="3714750"/>
          </a:xfrm>
          <a:prstGeom prst="rect">
            <a:avLst/>
          </a:prstGeom>
        </p:spPr>
        <p:txBody>
          <a:bodyPr lIns="0" tIns="0" rIns="0" bIns="0" rtlCol="0" anchor="t">
            <a:spAutoFit/>
          </a:bodyPr>
          <a:lstStyle/>
          <a:p>
            <a:pPr algn="ctr">
              <a:lnSpc>
                <a:spcPts val="4200"/>
              </a:lnSpc>
            </a:pPr>
            <a:r>
              <a:rPr lang="en-US" sz="3000" b="1">
                <a:solidFill>
                  <a:srgbClr val="000000"/>
                </a:solidFill>
                <a:latin typeface="Canva Sans Bold"/>
                <a:ea typeface="Canva Sans Bold"/>
                <a:cs typeface="Canva Sans Bold"/>
                <a:sym typeface="Canva Sans Bold"/>
              </a:rPr>
              <a:t>Group members</a:t>
            </a:r>
            <a:r>
              <a:rPr lang="en-US" sz="3000">
                <a:solidFill>
                  <a:srgbClr val="000000"/>
                </a:solidFill>
                <a:latin typeface="Canva Sans"/>
                <a:ea typeface="Canva Sans"/>
                <a:cs typeface="Canva Sans"/>
                <a:sym typeface="Canva Sans"/>
              </a:rPr>
              <a:t>:</a:t>
            </a:r>
          </a:p>
          <a:p>
            <a:pPr marL="647702" lvl="1" indent="-323851" algn="l">
              <a:lnSpc>
                <a:spcPts val="4200"/>
              </a:lnSpc>
              <a:buAutoNum type="arabicPeriod"/>
            </a:pPr>
            <a:r>
              <a:rPr lang="en-US" sz="3000">
                <a:solidFill>
                  <a:srgbClr val="000000"/>
                </a:solidFill>
                <a:latin typeface="Canva Sans"/>
                <a:ea typeface="Canva Sans"/>
                <a:cs typeface="Canva Sans"/>
                <a:sym typeface="Canva Sans"/>
              </a:rPr>
              <a:t>Manan Bansal         2401010258</a:t>
            </a:r>
          </a:p>
          <a:p>
            <a:pPr marL="647702" lvl="1" indent="-323851" algn="l">
              <a:lnSpc>
                <a:spcPts val="4200"/>
              </a:lnSpc>
              <a:buAutoNum type="arabicPeriod"/>
            </a:pPr>
            <a:r>
              <a:rPr lang="en-US" sz="3000">
                <a:solidFill>
                  <a:srgbClr val="000000"/>
                </a:solidFill>
                <a:latin typeface="Canva Sans"/>
                <a:ea typeface="Canva Sans"/>
                <a:cs typeface="Canva Sans"/>
                <a:sym typeface="Canva Sans"/>
              </a:rPr>
              <a:t>Kunal Dev Sahu      2401010244</a:t>
            </a:r>
          </a:p>
          <a:p>
            <a:pPr marL="647702" lvl="1" indent="-323851" algn="l">
              <a:lnSpc>
                <a:spcPts val="4200"/>
              </a:lnSpc>
              <a:buAutoNum type="arabicPeriod"/>
            </a:pPr>
            <a:r>
              <a:rPr lang="en-US" sz="3000">
                <a:solidFill>
                  <a:srgbClr val="000000"/>
                </a:solidFill>
                <a:latin typeface="Canva Sans"/>
                <a:ea typeface="Canva Sans"/>
                <a:cs typeface="Canva Sans"/>
                <a:sym typeface="Canva Sans"/>
              </a:rPr>
              <a:t>Sharma Piyush       2401010437</a:t>
            </a:r>
          </a:p>
          <a:p>
            <a:pPr marL="647702" lvl="1" indent="-323851" algn="l">
              <a:lnSpc>
                <a:spcPts val="4200"/>
              </a:lnSpc>
              <a:buAutoNum type="arabicPeriod"/>
            </a:pPr>
            <a:r>
              <a:rPr lang="en-US" sz="3000">
                <a:solidFill>
                  <a:srgbClr val="000000"/>
                </a:solidFill>
                <a:latin typeface="Canva Sans"/>
                <a:ea typeface="Canva Sans"/>
                <a:cs typeface="Canva Sans"/>
                <a:sym typeface="Canva Sans"/>
              </a:rPr>
              <a:t> Shrihari K N            2401010448</a:t>
            </a:r>
          </a:p>
          <a:p>
            <a:pPr marL="647702" lvl="1" indent="-323851" algn="l">
              <a:lnSpc>
                <a:spcPts val="4200"/>
              </a:lnSpc>
              <a:buAutoNum type="arabicPeriod"/>
            </a:pPr>
            <a:r>
              <a:rPr lang="en-US" sz="3000">
                <a:solidFill>
                  <a:srgbClr val="000000"/>
                </a:solidFill>
                <a:latin typeface="Canva Sans"/>
                <a:ea typeface="Canva Sans"/>
                <a:cs typeface="Canva Sans"/>
                <a:sym typeface="Canva Sans"/>
              </a:rPr>
              <a:t>Samriddhi Shah     2401010411</a:t>
            </a:r>
          </a:p>
          <a:p>
            <a:pPr marL="647702" lvl="1" indent="-323851" algn="l">
              <a:lnSpc>
                <a:spcPts val="4200"/>
              </a:lnSpc>
              <a:buAutoNum type="arabicPeriod"/>
            </a:pPr>
            <a:r>
              <a:rPr lang="en-US" sz="3000">
                <a:solidFill>
                  <a:srgbClr val="000000"/>
                </a:solidFill>
                <a:latin typeface="Canva Sans"/>
                <a:ea typeface="Canva Sans"/>
                <a:cs typeface="Canva Sans"/>
                <a:sym typeface="Canva Sans"/>
              </a:rPr>
              <a:t>Alok Singh Tomar  2401010059</a:t>
            </a:r>
          </a:p>
        </p:txBody>
      </p:sp>
      <p:sp>
        <p:nvSpPr>
          <p:cNvPr id="8" name="TextBox 8"/>
          <p:cNvSpPr txBox="1"/>
          <p:nvPr/>
        </p:nvSpPr>
        <p:spPr>
          <a:xfrm>
            <a:off x="12756119" y="7286146"/>
            <a:ext cx="3028131" cy="1581150"/>
          </a:xfrm>
          <a:prstGeom prst="rect">
            <a:avLst/>
          </a:prstGeom>
        </p:spPr>
        <p:txBody>
          <a:bodyPr lIns="0" tIns="0" rIns="0" bIns="0" rtlCol="0" anchor="t">
            <a:spAutoFit/>
          </a:bodyPr>
          <a:lstStyle/>
          <a:p>
            <a:pPr algn="l">
              <a:lnSpc>
                <a:spcPts val="4200"/>
              </a:lnSpc>
            </a:pPr>
            <a:r>
              <a:rPr lang="en-US" sz="3000" b="1">
                <a:solidFill>
                  <a:srgbClr val="000000"/>
                </a:solidFill>
                <a:latin typeface="Canva Sans Bold"/>
                <a:ea typeface="Canva Sans Bold"/>
                <a:cs typeface="Canva Sans Bold"/>
                <a:sym typeface="Canva Sans Bold"/>
              </a:rPr>
              <a:t>Faculty Mentor:</a:t>
            </a:r>
            <a:r>
              <a:rPr lang="en-US" sz="3000">
                <a:solidFill>
                  <a:srgbClr val="000000"/>
                </a:solidFill>
                <a:latin typeface="Canva Sans"/>
                <a:ea typeface="Canva Sans"/>
                <a:cs typeface="Canva Sans"/>
                <a:sym typeface="Canva Sans"/>
              </a:rPr>
              <a:t> </a:t>
            </a:r>
          </a:p>
          <a:p>
            <a:pPr algn="l">
              <a:lnSpc>
                <a:spcPts val="4200"/>
              </a:lnSpc>
            </a:pPr>
            <a:r>
              <a:rPr lang="en-US" sz="3000">
                <a:solidFill>
                  <a:srgbClr val="000000"/>
                </a:solidFill>
                <a:latin typeface="Canva Sans"/>
                <a:ea typeface="Canva Sans"/>
                <a:cs typeface="Canva Sans"/>
                <a:sym typeface="Canva Sans"/>
              </a:rPr>
              <a:t>Satyaki Das</a:t>
            </a:r>
          </a:p>
          <a:p>
            <a:pPr algn="l">
              <a:lnSpc>
                <a:spcPts val="4200"/>
              </a:lnSpc>
            </a:pPr>
            <a:r>
              <a:rPr lang="en-US" sz="3000">
                <a:solidFill>
                  <a:srgbClr val="000000"/>
                </a:solidFill>
                <a:latin typeface="Canva Sans"/>
                <a:ea typeface="Canva Sans"/>
                <a:cs typeface="Canva Sans"/>
                <a:sym typeface="Canva Sans"/>
              </a:rPr>
              <a:t>Sandeep 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1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6399" y="1963343"/>
            <a:ext cx="15691669" cy="1236345"/>
          </a:xfrm>
          <a:prstGeom prst="rect">
            <a:avLst/>
          </a:prstGeom>
        </p:spPr>
        <p:txBody>
          <a:bodyPr lIns="0" tIns="0" rIns="0" bIns="0" rtlCol="0" anchor="t">
            <a:spAutoFit/>
          </a:bodyPr>
          <a:lstStyle/>
          <a:p>
            <a:pPr marL="0" lvl="0" indent="0" algn="l">
              <a:lnSpc>
                <a:spcPts val="3360"/>
              </a:lnSpc>
            </a:pPr>
            <a:r>
              <a:rPr lang="en-US" sz="2100">
                <a:solidFill>
                  <a:srgbClr val="000000"/>
                </a:solidFill>
                <a:latin typeface="Open Sauce"/>
                <a:ea typeface="Open Sauce"/>
                <a:cs typeface="Open Sauce"/>
                <a:sym typeface="Open Sauce"/>
              </a:rPr>
              <a:t>The ret</a:t>
            </a:r>
            <a:r>
              <a:rPr lang="en-US" sz="2100" u="none" strike="noStrike">
                <a:solidFill>
                  <a:srgbClr val="000000"/>
                </a:solidFill>
                <a:latin typeface="Open Sauce"/>
                <a:ea typeface="Open Sauce"/>
                <a:cs typeface="Open Sauce"/>
                <a:sym typeface="Open Sauce"/>
              </a:rPr>
              <a:t>ail sector operates on high-volume transactional data generated through Point-of-Sale (POS) systems and digital payment platforms. This data directly drives revenue reporting, performance tracking, inventory planning, and customer analytics.</a:t>
            </a:r>
          </a:p>
        </p:txBody>
      </p:sp>
      <p:sp>
        <p:nvSpPr>
          <p:cNvPr id="4" name="TextBox 4"/>
          <p:cNvSpPr txBox="1"/>
          <p:nvPr/>
        </p:nvSpPr>
        <p:spPr>
          <a:xfrm>
            <a:off x="1166399" y="1217892"/>
            <a:ext cx="5729742" cy="613408"/>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Sector Context</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7" name="TextBox 7"/>
          <p:cNvSpPr txBox="1"/>
          <p:nvPr/>
        </p:nvSpPr>
        <p:spPr>
          <a:xfrm>
            <a:off x="1166399" y="3515750"/>
            <a:ext cx="5729742" cy="613408"/>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Problem Statement</a:t>
            </a:r>
          </a:p>
        </p:txBody>
      </p:sp>
      <p:sp>
        <p:nvSpPr>
          <p:cNvPr id="8" name="TextBox 8"/>
          <p:cNvSpPr txBox="1"/>
          <p:nvPr/>
        </p:nvSpPr>
        <p:spPr>
          <a:xfrm>
            <a:off x="1166399" y="4205358"/>
            <a:ext cx="15955203" cy="2912745"/>
          </a:xfrm>
          <a:prstGeom prst="rect">
            <a:avLst/>
          </a:prstGeom>
        </p:spPr>
        <p:txBody>
          <a:bodyPr lIns="0" tIns="0" rIns="0" bIns="0" rtlCol="0" anchor="t">
            <a:spAutoFit/>
          </a:bodyPr>
          <a:lstStyle/>
          <a:p>
            <a:pPr algn="l">
              <a:lnSpc>
                <a:spcPts val="3360"/>
              </a:lnSpc>
              <a:spcBef>
                <a:spcPct val="0"/>
              </a:spcBef>
            </a:pPr>
            <a:r>
              <a:rPr lang="en-US" sz="2100">
                <a:solidFill>
                  <a:srgbClr val="000000"/>
                </a:solidFill>
                <a:latin typeface="Open Sauce"/>
                <a:ea typeface="Open Sauce"/>
                <a:cs typeface="Open Sauce"/>
                <a:sym typeface="Open Sauce"/>
              </a:rPr>
              <a:t>Retail organizations rely on transactional data from POS systems and digital channels to monitor revenue performance, customer behavior, and operational efficiency. However, inconsistencies such as invalid dates, negative pricing, missing customer identifiers, and duplicate transaction records compromise analytical accuracy</a:t>
            </a:r>
          </a:p>
          <a:p>
            <a:pPr algn="l">
              <a:lnSpc>
                <a:spcPts val="3360"/>
              </a:lnSpc>
              <a:spcBef>
                <a:spcPct val="0"/>
              </a:spcBef>
            </a:pPr>
            <a:endParaRPr lang="en-US" sz="2100">
              <a:solidFill>
                <a:srgbClr val="000000"/>
              </a:solidFill>
              <a:latin typeface="Open Sauce"/>
              <a:ea typeface="Open Sauce"/>
              <a:cs typeface="Open Sauce"/>
              <a:sym typeface="Open Sauce"/>
            </a:endParaRPr>
          </a:p>
          <a:p>
            <a:pPr algn="l">
              <a:lnSpc>
                <a:spcPts val="3360"/>
              </a:lnSpc>
              <a:spcBef>
                <a:spcPct val="0"/>
              </a:spcBef>
            </a:pPr>
            <a:r>
              <a:rPr lang="en-US" sz="2100">
                <a:solidFill>
                  <a:srgbClr val="000000"/>
                </a:solidFill>
                <a:latin typeface="Open Sauce"/>
                <a:ea typeface="Open Sauce"/>
                <a:cs typeface="Open Sauce"/>
                <a:sym typeface="Open Sauce"/>
              </a:rPr>
              <a:t>This project aims to design a structured data-cleaning framework in Excel to standardize transaction records, ensure financial integrity, and construct an executive dashboard that delivers reliable KPIs — including Total Revenue, Average Order Value, Return Rate, and Product Performance trends — to support strategic decision-making</a:t>
            </a:r>
          </a:p>
        </p:txBody>
      </p:sp>
      <p:sp>
        <p:nvSpPr>
          <p:cNvPr id="9" name="TextBox 9"/>
          <p:cNvSpPr txBox="1"/>
          <p:nvPr/>
        </p:nvSpPr>
        <p:spPr>
          <a:xfrm>
            <a:off x="1166399" y="7432428"/>
            <a:ext cx="3105494" cy="613408"/>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Objective</a:t>
            </a:r>
          </a:p>
        </p:txBody>
      </p:sp>
      <p:sp>
        <p:nvSpPr>
          <p:cNvPr id="10" name="TextBox 10"/>
          <p:cNvSpPr txBox="1"/>
          <p:nvPr/>
        </p:nvSpPr>
        <p:spPr>
          <a:xfrm>
            <a:off x="1166399" y="8362950"/>
            <a:ext cx="15691669" cy="817245"/>
          </a:xfrm>
          <a:prstGeom prst="rect">
            <a:avLst/>
          </a:prstGeom>
        </p:spPr>
        <p:txBody>
          <a:bodyPr lIns="0" tIns="0" rIns="0" bIns="0" rtlCol="0" anchor="t">
            <a:spAutoFit/>
          </a:bodyPr>
          <a:lstStyle/>
          <a:p>
            <a:pPr marL="0" lvl="0" indent="0" algn="l">
              <a:lnSpc>
                <a:spcPts val="3360"/>
              </a:lnSpc>
            </a:pPr>
            <a:r>
              <a:rPr lang="en-US" sz="2100">
                <a:solidFill>
                  <a:srgbClr val="000000"/>
                </a:solidFill>
                <a:latin typeface="Open Sauce"/>
                <a:ea typeface="Open Sauce"/>
                <a:cs typeface="Open Sauce"/>
                <a:sym typeface="Open Sauce"/>
              </a:rPr>
              <a:t>The object</a:t>
            </a:r>
            <a:r>
              <a:rPr lang="en-US" sz="2100" u="none" strike="noStrike">
                <a:solidFill>
                  <a:srgbClr val="000000"/>
                </a:solidFill>
                <a:latin typeface="Open Sauce"/>
                <a:ea typeface="Open Sauce"/>
                <a:cs typeface="Open Sauce"/>
                <a:sym typeface="Open Sauce"/>
              </a:rPr>
              <a:t>ive of this project is to design and implement a structured data-cleaning framework in Google Sheets that standardizes retail transaction records and ensures financial integrity.</a:t>
            </a:r>
          </a:p>
        </p:txBody>
      </p:sp>
      <p:sp>
        <p:nvSpPr>
          <p:cNvPr id="11" name="TextBox 11"/>
          <p:cNvSpPr txBox="1"/>
          <p:nvPr/>
        </p:nvSpPr>
        <p:spPr>
          <a:xfrm>
            <a:off x="4887723" y="47954"/>
            <a:ext cx="8249020"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 Context &amp; 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dirty="0"/>
          </a:p>
        </p:txBody>
      </p:sp>
      <p:sp>
        <p:nvSpPr>
          <p:cNvPr id="3" name="TextBox 3"/>
          <p:cNvSpPr txBox="1"/>
          <p:nvPr/>
        </p:nvSpPr>
        <p:spPr>
          <a:xfrm>
            <a:off x="1166399" y="2081175"/>
            <a:ext cx="15691669" cy="2301673"/>
          </a:xfrm>
          <a:prstGeom prst="rect">
            <a:avLst/>
          </a:prstGeom>
        </p:spPr>
        <p:txBody>
          <a:bodyPr lIns="0" tIns="0" rIns="0" bIns="0" rtlCol="0" anchor="t">
            <a:spAutoFit/>
          </a:bodyPr>
          <a:lstStyle/>
          <a:p>
            <a:pPr marL="500126" lvl="1" indent="-250063" algn="l">
              <a:lnSpc>
                <a:spcPts val="3706"/>
              </a:lnSpc>
              <a:buFont typeface="Arial"/>
              <a:buChar char="•"/>
            </a:pPr>
            <a:r>
              <a:rPr lang="en-US" sz="2316" b="1">
                <a:solidFill>
                  <a:srgbClr val="000000"/>
                </a:solidFill>
                <a:latin typeface="Open Sauce Bold"/>
                <a:ea typeface="Open Sauce Bold"/>
                <a:cs typeface="Open Sauce Bold"/>
                <a:sym typeface="Open Sauce Bold"/>
              </a:rPr>
              <a:t>Dataset Name</a:t>
            </a:r>
            <a:r>
              <a:rPr lang="en-US" sz="2316">
                <a:solidFill>
                  <a:srgbClr val="000000"/>
                </a:solidFill>
                <a:latin typeface="Open Sauce"/>
                <a:ea typeface="Open Sauce"/>
                <a:cs typeface="Open Sauce"/>
                <a:sym typeface="Open Sauce"/>
              </a:rPr>
              <a:t>: Dirty Financial Transactions Dataset (Kaggle – Alfaris Bachmid)</a:t>
            </a:r>
          </a:p>
          <a:p>
            <a:pPr marL="500126" lvl="1" indent="-250063" algn="l">
              <a:lnSpc>
                <a:spcPts val="3706"/>
              </a:lnSpc>
              <a:buFont typeface="Arial"/>
              <a:buChar char="•"/>
            </a:pPr>
            <a:r>
              <a:rPr lang="en-US" sz="2316" b="1">
                <a:solidFill>
                  <a:srgbClr val="000000"/>
                </a:solidFill>
                <a:latin typeface="Open Sauce Bold"/>
                <a:ea typeface="Open Sauce Bold"/>
                <a:cs typeface="Open Sauce Bold"/>
                <a:sym typeface="Open Sauce Bold"/>
              </a:rPr>
              <a:t>Access Link</a:t>
            </a:r>
            <a:r>
              <a:rPr lang="en-US" sz="2316">
                <a:solidFill>
                  <a:srgbClr val="000000"/>
                </a:solidFill>
                <a:latin typeface="Open Sauce"/>
                <a:ea typeface="Open Sauce"/>
                <a:cs typeface="Open Sauce"/>
                <a:sym typeface="Open Sauce"/>
              </a:rPr>
              <a:t>: </a:t>
            </a:r>
            <a:r>
              <a:rPr lang="en-US" sz="2316" u="sng">
                <a:solidFill>
                  <a:srgbClr val="000000"/>
                </a:solidFill>
                <a:latin typeface="Open Sauce"/>
                <a:ea typeface="Open Sauce"/>
                <a:cs typeface="Open Sauce"/>
                <a:sym typeface="Open Sauce"/>
                <a:hlinkClick r:id="rId3" tooltip="https://www.kaggle.com/datasets/alfarisbachmid/dirty-financial-transactions-dataset/data"/>
              </a:rPr>
              <a:t> https://www.kaggle.com/datasets/alfarisbachmid/dirty-financial-transactions-dataset/data</a:t>
            </a:r>
            <a:r>
              <a:rPr lang="en-US" sz="2316">
                <a:solidFill>
                  <a:srgbClr val="000000"/>
                </a:solidFill>
                <a:latin typeface="Open Sauce"/>
                <a:ea typeface="Open Sauce"/>
                <a:cs typeface="Open Sauce"/>
                <a:sym typeface="Open Sauce"/>
              </a:rPr>
              <a:t>. </a:t>
            </a:r>
          </a:p>
          <a:p>
            <a:pPr marL="500126" lvl="1" indent="-250063" algn="l">
              <a:lnSpc>
                <a:spcPts val="3706"/>
              </a:lnSpc>
              <a:buFont typeface="Arial"/>
              <a:buChar char="•"/>
            </a:pPr>
            <a:r>
              <a:rPr lang="en-US" sz="2316" b="1">
                <a:solidFill>
                  <a:srgbClr val="000000"/>
                </a:solidFill>
                <a:latin typeface="Open Sauce Bold"/>
                <a:ea typeface="Open Sauce Bold"/>
                <a:cs typeface="Open Sauce Bold"/>
                <a:sym typeface="Open Sauce Bold"/>
              </a:rPr>
              <a:t>Original Size</a:t>
            </a:r>
            <a:r>
              <a:rPr lang="en-US" sz="2316">
                <a:solidFill>
                  <a:srgbClr val="000000"/>
                </a:solidFill>
                <a:latin typeface="Open Sauce"/>
                <a:ea typeface="Open Sauce"/>
                <a:cs typeface="Open Sauce"/>
                <a:sym typeface="Open Sauce"/>
              </a:rPr>
              <a:t>: ~100,000 rows × 8 columns</a:t>
            </a:r>
          </a:p>
          <a:p>
            <a:pPr marL="500126" lvl="1" indent="-250063" algn="l">
              <a:lnSpc>
                <a:spcPts val="3706"/>
              </a:lnSpc>
              <a:buFont typeface="Arial"/>
              <a:buChar char="•"/>
            </a:pPr>
            <a:r>
              <a:rPr lang="en-US" sz="2316" b="1">
                <a:solidFill>
                  <a:srgbClr val="000000"/>
                </a:solidFill>
                <a:latin typeface="Open Sauce Bold"/>
                <a:ea typeface="Open Sauce Bold"/>
                <a:cs typeface="Open Sauce Bold"/>
                <a:sym typeface="Open Sauce Bold"/>
              </a:rPr>
              <a:t>Working Dataset</a:t>
            </a:r>
            <a:r>
              <a:rPr lang="en-US" sz="2316">
                <a:solidFill>
                  <a:srgbClr val="000000"/>
                </a:solidFill>
                <a:latin typeface="Open Sauce"/>
                <a:ea typeface="Open Sauce"/>
                <a:cs typeface="Open Sauce"/>
                <a:sym typeface="Open Sauce"/>
              </a:rPr>
              <a:t>: 10,000 records </a:t>
            </a:r>
          </a:p>
          <a:p>
            <a:pPr marL="0" lvl="0" indent="0" algn="l">
              <a:lnSpc>
                <a:spcPts val="3706"/>
              </a:lnSpc>
            </a:pPr>
            <a:endParaRPr lang="en-US" sz="2316">
              <a:solidFill>
                <a:srgbClr val="000000"/>
              </a:solidFill>
              <a:latin typeface="Open Sauce"/>
              <a:ea typeface="Open Sauce"/>
              <a:cs typeface="Open Sauce"/>
              <a:sym typeface="Open Sauce"/>
            </a:endParaRPr>
          </a:p>
        </p:txBody>
      </p:sp>
      <p:sp>
        <p:nvSpPr>
          <p:cNvPr id="4" name="TextBox 4"/>
          <p:cNvSpPr txBox="1"/>
          <p:nvPr/>
        </p:nvSpPr>
        <p:spPr>
          <a:xfrm>
            <a:off x="1166399" y="1251756"/>
            <a:ext cx="4969141" cy="613410"/>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Source</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7" name="TextBox 7"/>
          <p:cNvSpPr txBox="1"/>
          <p:nvPr/>
        </p:nvSpPr>
        <p:spPr>
          <a:xfrm>
            <a:off x="1166399" y="4563824"/>
            <a:ext cx="3639522" cy="613410"/>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Cleaning</a:t>
            </a:r>
          </a:p>
        </p:txBody>
      </p:sp>
      <p:sp>
        <p:nvSpPr>
          <p:cNvPr id="8" name="TextBox 8"/>
          <p:cNvSpPr txBox="1"/>
          <p:nvPr/>
        </p:nvSpPr>
        <p:spPr>
          <a:xfrm>
            <a:off x="1166399" y="5604438"/>
            <a:ext cx="15955203" cy="2759710"/>
          </a:xfrm>
          <a:prstGeom prst="rect">
            <a:avLst/>
          </a:prstGeom>
        </p:spPr>
        <p:txBody>
          <a:bodyPr lIns="0" tIns="0" rIns="0" bIns="0" rtlCol="0" anchor="t">
            <a:spAutoFit/>
          </a:bodyPr>
          <a:lstStyle/>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Missing Prices were imputed using median price per product category.</a:t>
            </a: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Negative Prices were corrected using absolute value transformation.</a:t>
            </a: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Negative Quantities were treated as returns and used to create the </a:t>
            </a:r>
            <a:r>
              <a:rPr lang="en-US" sz="2300" dirty="0" err="1">
                <a:solidFill>
                  <a:srgbClr val="000000"/>
                </a:solidFill>
                <a:latin typeface="Open Sauce"/>
                <a:ea typeface="Open Sauce"/>
                <a:cs typeface="Open Sauce"/>
                <a:sym typeface="Open Sauce"/>
              </a:rPr>
              <a:t>Is_Return</a:t>
            </a:r>
            <a:r>
              <a:rPr lang="en-US" sz="2300" dirty="0">
                <a:solidFill>
                  <a:srgbClr val="000000"/>
                </a:solidFill>
                <a:latin typeface="Open Sauce"/>
                <a:ea typeface="Open Sauce"/>
                <a:cs typeface="Open Sauce"/>
                <a:sym typeface="Open Sauce"/>
              </a:rPr>
              <a:t> flag.</a:t>
            </a: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Invalid Dates (e.g., Feb 30, month 13) were remapped to valid calendar dates.</a:t>
            </a: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Inconsistent Product &amp; Payment Names were standardized for accurate aggregation.</a:t>
            </a:r>
          </a:p>
          <a:p>
            <a:pPr algn="l">
              <a:lnSpc>
                <a:spcPts val="3680"/>
              </a:lnSpc>
              <a:spcBef>
                <a:spcPct val="0"/>
              </a:spcBef>
            </a:pPr>
            <a:endParaRPr lang="en-US" sz="2300" dirty="0">
              <a:solidFill>
                <a:srgbClr val="000000"/>
              </a:solidFill>
              <a:latin typeface="Open Sauce"/>
              <a:ea typeface="Open Sauce"/>
              <a:cs typeface="Open Sauce"/>
              <a:sym typeface="Open Sauce"/>
            </a:endParaRPr>
          </a:p>
        </p:txBody>
      </p:sp>
      <p:sp>
        <p:nvSpPr>
          <p:cNvPr id="9" name="TextBox 9"/>
          <p:cNvSpPr txBox="1"/>
          <p:nvPr/>
        </p:nvSpPr>
        <p:spPr>
          <a:xfrm>
            <a:off x="6392344" y="82944"/>
            <a:ext cx="5729742"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Data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66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6" name="TextBox 6"/>
          <p:cNvSpPr txBox="1"/>
          <p:nvPr/>
        </p:nvSpPr>
        <p:spPr>
          <a:xfrm>
            <a:off x="6479819" y="82944"/>
            <a:ext cx="5729742"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Data Engineering</a:t>
            </a:r>
          </a:p>
        </p:txBody>
      </p:sp>
      <p:sp>
        <p:nvSpPr>
          <p:cNvPr id="7" name="TextBox 7"/>
          <p:cNvSpPr txBox="1"/>
          <p:nvPr/>
        </p:nvSpPr>
        <p:spPr>
          <a:xfrm>
            <a:off x="1166399" y="1140787"/>
            <a:ext cx="4969141" cy="613410"/>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Data Dictionary </a:t>
            </a:r>
          </a:p>
        </p:txBody>
      </p:sp>
      <p:pic>
        <p:nvPicPr>
          <p:cNvPr id="8" name="Picture 7">
            <a:extLst>
              <a:ext uri="{FF2B5EF4-FFF2-40B4-BE49-F238E27FC236}">
                <a16:creationId xmlns:a16="http://schemas.microsoft.com/office/drawing/2014/main" id="{B72DDB4F-9D39-2B3C-90F5-372EFFA93FE4}"/>
              </a:ext>
            </a:extLst>
          </p:cNvPr>
          <p:cNvPicPr>
            <a:picLocks noChangeAspect="1"/>
          </p:cNvPicPr>
          <p:nvPr/>
        </p:nvPicPr>
        <p:blipFill>
          <a:blip r:embed="rId3"/>
          <a:stretch>
            <a:fillRect/>
          </a:stretch>
        </p:blipFill>
        <p:spPr>
          <a:xfrm>
            <a:off x="1166399" y="1943100"/>
            <a:ext cx="15771612" cy="71660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989279" y="2233517"/>
            <a:ext cx="14407085" cy="6827059"/>
          </a:xfrm>
          <a:prstGeom prst="rect">
            <a:avLst/>
          </a:prstGeom>
        </p:spPr>
        <p:txBody>
          <a:bodyPr lIns="0" tIns="0" rIns="0" bIns="0" rtlCol="0" anchor="t">
            <a:spAutoFit/>
          </a:bodyPr>
          <a:lstStyle/>
          <a:p>
            <a:pPr marL="495832" lvl="1" indent="-247916" algn="l">
              <a:lnSpc>
                <a:spcPts val="3674"/>
              </a:lnSpc>
              <a:buFont typeface="Arial"/>
              <a:buChar char="•"/>
            </a:pPr>
            <a:r>
              <a:rPr lang="en-US" sz="2296" b="1">
                <a:solidFill>
                  <a:srgbClr val="000000"/>
                </a:solidFill>
                <a:latin typeface="Open Sauce Bold"/>
                <a:ea typeface="Open Sauce Bold"/>
                <a:cs typeface="Open Sauce Bold"/>
                <a:sym typeface="Open Sauce Bold"/>
              </a:rPr>
              <a:t>Total Revenue</a:t>
            </a:r>
            <a:r>
              <a:rPr lang="en-US" sz="2296">
                <a:solidFill>
                  <a:srgbClr val="000000"/>
                </a:solidFill>
                <a:latin typeface="Open Sauce"/>
                <a:ea typeface="Open Sauce"/>
                <a:cs typeface="Open Sauce"/>
                <a:sym typeface="Open Sauce"/>
              </a:rPr>
              <a:t> – Measures overall financial performance after data remediation; ensures accurate executive reporting.</a:t>
            </a:r>
          </a:p>
          <a:p>
            <a:pPr algn="l">
              <a:lnSpc>
                <a:spcPts val="3674"/>
              </a:lnSpc>
            </a:pPr>
            <a:endParaRPr lang="en-US" sz="2296">
              <a:solidFill>
                <a:srgbClr val="000000"/>
              </a:solidFill>
              <a:latin typeface="Open Sauce"/>
              <a:ea typeface="Open Sauce"/>
              <a:cs typeface="Open Sauce"/>
              <a:sym typeface="Open Sauce"/>
            </a:endParaRPr>
          </a:p>
          <a:p>
            <a:pPr marL="495832" lvl="1" indent="-247916" algn="l">
              <a:lnSpc>
                <a:spcPts val="3674"/>
              </a:lnSpc>
              <a:buFont typeface="Arial"/>
              <a:buChar char="•"/>
            </a:pPr>
            <a:r>
              <a:rPr lang="en-US" sz="2296" b="1">
                <a:solidFill>
                  <a:srgbClr val="000000"/>
                </a:solidFill>
                <a:latin typeface="Open Sauce Bold"/>
                <a:ea typeface="Open Sauce Bold"/>
                <a:cs typeface="Open Sauce Bold"/>
                <a:sym typeface="Open Sauce Bold"/>
              </a:rPr>
              <a:t>Total Transactions </a:t>
            </a:r>
            <a:r>
              <a:rPr lang="en-US" sz="2296">
                <a:solidFill>
                  <a:srgbClr val="000000"/>
                </a:solidFill>
                <a:latin typeface="Open Sauce"/>
                <a:ea typeface="Open Sauce"/>
                <a:cs typeface="Open Sauce"/>
                <a:sym typeface="Open Sauce"/>
              </a:rPr>
              <a:t>– Tracks operational activity and system performance after duplicate and invalid records are removed.</a:t>
            </a:r>
          </a:p>
          <a:p>
            <a:pPr algn="l">
              <a:lnSpc>
                <a:spcPts val="3674"/>
              </a:lnSpc>
            </a:pPr>
            <a:endParaRPr lang="en-US" sz="2296">
              <a:solidFill>
                <a:srgbClr val="000000"/>
              </a:solidFill>
              <a:latin typeface="Open Sauce"/>
              <a:ea typeface="Open Sauce"/>
              <a:cs typeface="Open Sauce"/>
              <a:sym typeface="Open Sauce"/>
            </a:endParaRPr>
          </a:p>
          <a:p>
            <a:pPr marL="495832" lvl="1" indent="-247916" algn="l">
              <a:lnSpc>
                <a:spcPts val="3674"/>
              </a:lnSpc>
              <a:buFont typeface="Arial"/>
              <a:buChar char="•"/>
            </a:pPr>
            <a:r>
              <a:rPr lang="en-US" sz="2296" b="1">
                <a:solidFill>
                  <a:srgbClr val="000000"/>
                </a:solidFill>
                <a:latin typeface="Open Sauce Bold"/>
                <a:ea typeface="Open Sauce Bold"/>
                <a:cs typeface="Open Sauce Bold"/>
                <a:sym typeface="Open Sauce Bold"/>
              </a:rPr>
              <a:t>Unique Customer Count </a:t>
            </a:r>
            <a:r>
              <a:rPr lang="en-US" sz="2296">
                <a:solidFill>
                  <a:srgbClr val="000000"/>
                </a:solidFill>
                <a:latin typeface="Open Sauce"/>
                <a:ea typeface="Open Sauce"/>
                <a:cs typeface="Open Sauce"/>
                <a:sym typeface="Open Sauce"/>
              </a:rPr>
              <a:t>–</a:t>
            </a:r>
            <a:r>
              <a:rPr lang="en-US" sz="2296" u="none">
                <a:solidFill>
                  <a:srgbClr val="000000"/>
                </a:solidFill>
                <a:latin typeface="Open Sauce"/>
                <a:ea typeface="Open Sauce"/>
                <a:cs typeface="Open Sauce"/>
                <a:sym typeface="Open Sauce"/>
              </a:rPr>
              <a:t> </a:t>
            </a:r>
            <a:r>
              <a:rPr lang="en-US" sz="2296">
                <a:solidFill>
                  <a:srgbClr val="000000"/>
                </a:solidFill>
                <a:latin typeface="Open Sauce"/>
                <a:ea typeface="Open Sauce"/>
                <a:cs typeface="Open Sauce"/>
                <a:sym typeface="Open Sauce"/>
              </a:rPr>
              <a:t>Mea</a:t>
            </a:r>
            <a:r>
              <a:rPr lang="en-US" sz="2296" u="none">
                <a:solidFill>
                  <a:srgbClr val="000000"/>
                </a:solidFill>
                <a:latin typeface="Open Sauce"/>
                <a:ea typeface="Open Sauce"/>
                <a:cs typeface="Open Sauce"/>
                <a:sym typeface="Open Sauce"/>
              </a:rPr>
              <a:t>s</a:t>
            </a:r>
            <a:r>
              <a:rPr lang="en-US" sz="2296">
                <a:solidFill>
                  <a:srgbClr val="000000"/>
                </a:solidFill>
                <a:latin typeface="Open Sauce"/>
                <a:ea typeface="Open Sauce"/>
                <a:cs typeface="Open Sauce"/>
                <a:sym typeface="Open Sauce"/>
              </a:rPr>
              <a:t>ur</a:t>
            </a:r>
            <a:r>
              <a:rPr lang="en-US" sz="2296" u="none">
                <a:solidFill>
                  <a:srgbClr val="000000"/>
                </a:solidFill>
                <a:latin typeface="Open Sauce"/>
                <a:ea typeface="Open Sauce"/>
                <a:cs typeface="Open Sauce"/>
                <a:sym typeface="Open Sauce"/>
              </a:rPr>
              <a:t>e</a:t>
            </a:r>
            <a:r>
              <a:rPr lang="en-US" sz="2296">
                <a:solidFill>
                  <a:srgbClr val="000000"/>
                </a:solidFill>
                <a:latin typeface="Open Sauce"/>
                <a:ea typeface="Open Sauce"/>
                <a:cs typeface="Open Sauce"/>
                <a:sym typeface="Open Sauce"/>
              </a:rPr>
              <a:t>s </a:t>
            </a:r>
            <a:r>
              <a:rPr lang="en-US" sz="2296" u="none">
                <a:solidFill>
                  <a:srgbClr val="000000"/>
                </a:solidFill>
                <a:latin typeface="Open Sauce"/>
                <a:ea typeface="Open Sauce"/>
                <a:cs typeface="Open Sauce"/>
                <a:sym typeface="Open Sauce"/>
              </a:rPr>
              <a:t>c</a:t>
            </a:r>
            <a:r>
              <a:rPr lang="en-US" sz="2296">
                <a:solidFill>
                  <a:srgbClr val="000000"/>
                </a:solidFill>
                <a:latin typeface="Open Sauce"/>
                <a:ea typeface="Open Sauce"/>
                <a:cs typeface="Open Sauce"/>
                <a:sym typeface="Open Sauce"/>
              </a:rPr>
              <a:t>ust</a:t>
            </a:r>
            <a:r>
              <a:rPr lang="en-US" sz="2296" u="none">
                <a:solidFill>
                  <a:srgbClr val="000000"/>
                </a:solidFill>
                <a:latin typeface="Open Sauce"/>
                <a:ea typeface="Open Sauce"/>
                <a:cs typeface="Open Sauce"/>
                <a:sym typeface="Open Sauce"/>
              </a:rPr>
              <a:t>om</a:t>
            </a:r>
            <a:r>
              <a:rPr lang="en-US" sz="2296">
                <a:solidFill>
                  <a:srgbClr val="000000"/>
                </a:solidFill>
                <a:latin typeface="Open Sauce"/>
                <a:ea typeface="Open Sauce"/>
                <a:cs typeface="Open Sauce"/>
                <a:sym typeface="Open Sauce"/>
              </a:rPr>
              <a:t>er re</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ch </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nd </a:t>
            </a:r>
            <a:r>
              <a:rPr lang="en-US" sz="2296" u="none">
                <a:solidFill>
                  <a:srgbClr val="000000"/>
                </a:solidFill>
                <a:latin typeface="Open Sauce"/>
                <a:ea typeface="Open Sauce"/>
                <a:cs typeface="Open Sauce"/>
                <a:sym typeface="Open Sauce"/>
              </a:rPr>
              <a:t>s</a:t>
            </a:r>
            <a:r>
              <a:rPr lang="en-US" sz="2296">
                <a:solidFill>
                  <a:srgbClr val="000000"/>
                </a:solidFill>
                <a:latin typeface="Open Sauce"/>
                <a:ea typeface="Open Sauce"/>
                <a:cs typeface="Open Sauce"/>
                <a:sym typeface="Open Sauce"/>
              </a:rPr>
              <a:t>uppor</a:t>
            </a:r>
            <a:r>
              <a:rPr lang="en-US" sz="2296" u="none">
                <a:solidFill>
                  <a:srgbClr val="000000"/>
                </a:solidFill>
                <a:latin typeface="Open Sauce"/>
                <a:ea typeface="Open Sauce"/>
                <a:cs typeface="Open Sauce"/>
                <a:sym typeface="Open Sauce"/>
              </a:rPr>
              <a:t>ts</a:t>
            </a:r>
            <a:r>
              <a:rPr lang="en-US" sz="2296">
                <a:solidFill>
                  <a:srgbClr val="000000"/>
                </a:solidFill>
                <a:latin typeface="Open Sauce"/>
                <a:ea typeface="Open Sauce"/>
                <a:cs typeface="Open Sauce"/>
                <a:sym typeface="Open Sauce"/>
              </a:rPr>
              <a:t> segment</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tion </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nd </a:t>
            </a:r>
            <a:r>
              <a:rPr lang="en-US" sz="2296" u="none">
                <a:solidFill>
                  <a:srgbClr val="000000"/>
                </a:solidFill>
                <a:latin typeface="Open Sauce"/>
                <a:ea typeface="Open Sauce"/>
                <a:cs typeface="Open Sauce"/>
                <a:sym typeface="Open Sauce"/>
              </a:rPr>
              <a:t>r</a:t>
            </a:r>
            <a:r>
              <a:rPr lang="en-US" sz="2296">
                <a:solidFill>
                  <a:srgbClr val="000000"/>
                </a:solidFill>
                <a:latin typeface="Open Sauce"/>
                <a:ea typeface="Open Sauce"/>
                <a:cs typeface="Open Sauce"/>
                <a:sym typeface="Open Sauce"/>
              </a:rPr>
              <a:t>etent</a:t>
            </a:r>
            <a:r>
              <a:rPr lang="en-US" sz="2296" u="none">
                <a:solidFill>
                  <a:srgbClr val="000000"/>
                </a:solidFill>
                <a:latin typeface="Open Sauce"/>
                <a:ea typeface="Open Sauce"/>
                <a:cs typeface="Open Sauce"/>
                <a:sym typeface="Open Sauce"/>
              </a:rPr>
              <a:t>i</a:t>
            </a:r>
            <a:r>
              <a:rPr lang="en-US" sz="2296">
                <a:solidFill>
                  <a:srgbClr val="000000"/>
                </a:solidFill>
                <a:latin typeface="Open Sauce"/>
                <a:ea typeface="Open Sauce"/>
                <a:cs typeface="Open Sauce"/>
                <a:sym typeface="Open Sauce"/>
              </a:rPr>
              <a:t>on </a:t>
            </a:r>
            <a:r>
              <a:rPr lang="en-US" sz="2296" u="none">
                <a:solidFill>
                  <a:srgbClr val="000000"/>
                </a:solidFill>
                <a:latin typeface="Open Sauce"/>
                <a:ea typeface="Open Sauce"/>
                <a:cs typeface="Open Sauce"/>
                <a:sym typeface="Open Sauce"/>
              </a:rPr>
              <a:t>s</a:t>
            </a:r>
            <a:r>
              <a:rPr lang="en-US" sz="2296">
                <a:solidFill>
                  <a:srgbClr val="000000"/>
                </a:solidFill>
                <a:latin typeface="Open Sauce"/>
                <a:ea typeface="Open Sauce"/>
                <a:cs typeface="Open Sauce"/>
                <a:sym typeface="Open Sauce"/>
              </a:rPr>
              <a:t>tr</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teg</a:t>
            </a:r>
            <a:r>
              <a:rPr lang="en-US" sz="2296" u="none">
                <a:solidFill>
                  <a:srgbClr val="000000"/>
                </a:solidFill>
                <a:latin typeface="Open Sauce"/>
                <a:ea typeface="Open Sauce"/>
                <a:cs typeface="Open Sauce"/>
                <a:sym typeface="Open Sauce"/>
              </a:rPr>
              <a:t>i</a:t>
            </a:r>
            <a:r>
              <a:rPr lang="en-US" sz="2296">
                <a:solidFill>
                  <a:srgbClr val="000000"/>
                </a:solidFill>
                <a:latin typeface="Open Sauce"/>
                <a:ea typeface="Open Sauce"/>
                <a:cs typeface="Open Sauce"/>
                <a:sym typeface="Open Sauce"/>
              </a:rPr>
              <a:t>es.</a:t>
            </a:r>
          </a:p>
          <a:p>
            <a:pPr algn="l">
              <a:lnSpc>
                <a:spcPts val="3674"/>
              </a:lnSpc>
            </a:pPr>
            <a:endParaRPr lang="en-US" sz="2296">
              <a:solidFill>
                <a:srgbClr val="000000"/>
              </a:solidFill>
              <a:latin typeface="Open Sauce"/>
              <a:ea typeface="Open Sauce"/>
              <a:cs typeface="Open Sauce"/>
              <a:sym typeface="Open Sauce"/>
            </a:endParaRPr>
          </a:p>
          <a:p>
            <a:pPr marL="495832" lvl="1" indent="-247916" algn="l">
              <a:lnSpc>
                <a:spcPts val="3674"/>
              </a:lnSpc>
              <a:buFont typeface="Arial"/>
              <a:buChar char="•"/>
            </a:pPr>
            <a:r>
              <a:rPr lang="en-US" sz="2296" b="1">
                <a:solidFill>
                  <a:srgbClr val="000000"/>
                </a:solidFill>
                <a:latin typeface="Open Sauce Bold"/>
                <a:ea typeface="Open Sauce Bold"/>
                <a:cs typeface="Open Sauce Bold"/>
                <a:sym typeface="Open Sauce Bold"/>
              </a:rPr>
              <a:t>Average Or</a:t>
            </a:r>
            <a:r>
              <a:rPr lang="en-US" sz="2296" b="1" u="none">
                <a:solidFill>
                  <a:srgbClr val="000000"/>
                </a:solidFill>
                <a:latin typeface="Open Sauce Bold"/>
                <a:ea typeface="Open Sauce Bold"/>
                <a:cs typeface="Open Sauce Bold"/>
                <a:sym typeface="Open Sauce Bold"/>
              </a:rPr>
              <a:t>d</a:t>
            </a:r>
            <a:r>
              <a:rPr lang="en-US" sz="2296" b="1">
                <a:solidFill>
                  <a:srgbClr val="000000"/>
                </a:solidFill>
                <a:latin typeface="Open Sauce Bold"/>
                <a:ea typeface="Open Sauce Bold"/>
                <a:cs typeface="Open Sauce Bold"/>
                <a:sym typeface="Open Sauce Bold"/>
              </a:rPr>
              <a:t>e</a:t>
            </a:r>
            <a:r>
              <a:rPr lang="en-US" sz="2296" b="1" u="none">
                <a:solidFill>
                  <a:srgbClr val="000000"/>
                </a:solidFill>
                <a:latin typeface="Open Sauce Bold"/>
                <a:ea typeface="Open Sauce Bold"/>
                <a:cs typeface="Open Sauce Bold"/>
                <a:sym typeface="Open Sauce Bold"/>
              </a:rPr>
              <a:t>r</a:t>
            </a:r>
            <a:r>
              <a:rPr lang="en-US" sz="2296" b="1">
                <a:solidFill>
                  <a:srgbClr val="000000"/>
                </a:solidFill>
                <a:latin typeface="Open Sauce Bold"/>
                <a:ea typeface="Open Sauce Bold"/>
                <a:cs typeface="Open Sauce Bold"/>
                <a:sym typeface="Open Sauce Bold"/>
              </a:rPr>
              <a:t> Value (AOV)</a:t>
            </a:r>
            <a:r>
              <a:rPr lang="en-US" sz="2296">
                <a:solidFill>
                  <a:srgbClr val="000000"/>
                </a:solidFill>
                <a:latin typeface="Open Sauce"/>
                <a:ea typeface="Open Sauce"/>
                <a:cs typeface="Open Sauce"/>
                <a:sym typeface="Open Sauce"/>
              </a:rPr>
              <a:t> – Evalua</a:t>
            </a:r>
            <a:r>
              <a:rPr lang="en-US" sz="2296" u="none">
                <a:solidFill>
                  <a:srgbClr val="000000"/>
                </a:solidFill>
                <a:latin typeface="Open Sauce"/>
                <a:ea typeface="Open Sauce"/>
                <a:cs typeface="Open Sauce"/>
                <a:sym typeface="Open Sauce"/>
              </a:rPr>
              <a:t>t</a:t>
            </a:r>
            <a:r>
              <a:rPr lang="en-US" sz="2296">
                <a:solidFill>
                  <a:srgbClr val="000000"/>
                </a:solidFill>
                <a:latin typeface="Open Sauce"/>
                <a:ea typeface="Open Sauce"/>
                <a:cs typeface="Open Sauce"/>
                <a:sym typeface="Open Sauce"/>
              </a:rPr>
              <a:t>es customer spend</a:t>
            </a:r>
            <a:r>
              <a:rPr lang="en-US" sz="2296" u="none">
                <a:solidFill>
                  <a:srgbClr val="000000"/>
                </a:solidFill>
                <a:latin typeface="Open Sauce"/>
                <a:ea typeface="Open Sauce"/>
                <a:cs typeface="Open Sauce"/>
                <a:sym typeface="Open Sauce"/>
              </a:rPr>
              <a:t>in</a:t>
            </a:r>
            <a:r>
              <a:rPr lang="en-US" sz="2296">
                <a:solidFill>
                  <a:srgbClr val="000000"/>
                </a:solidFill>
                <a:latin typeface="Open Sauce"/>
                <a:ea typeface="Open Sauce"/>
                <a:cs typeface="Open Sauce"/>
                <a:sym typeface="Open Sauce"/>
              </a:rPr>
              <a:t>g beh</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v</a:t>
            </a:r>
            <a:r>
              <a:rPr lang="en-US" sz="2296" u="none">
                <a:solidFill>
                  <a:srgbClr val="000000"/>
                </a:solidFill>
                <a:latin typeface="Open Sauce"/>
                <a:ea typeface="Open Sauce"/>
                <a:cs typeface="Open Sauce"/>
                <a:sym typeface="Open Sauce"/>
              </a:rPr>
              <a:t>i</a:t>
            </a:r>
            <a:r>
              <a:rPr lang="en-US" sz="2296">
                <a:solidFill>
                  <a:srgbClr val="000000"/>
                </a:solidFill>
                <a:latin typeface="Open Sauce"/>
                <a:ea typeface="Open Sauce"/>
                <a:cs typeface="Open Sauce"/>
                <a:sym typeface="Open Sauce"/>
              </a:rPr>
              <a:t>o</a:t>
            </a:r>
            <a:r>
              <a:rPr lang="en-US" sz="2296" u="none">
                <a:solidFill>
                  <a:srgbClr val="000000"/>
                </a:solidFill>
                <a:latin typeface="Open Sauce"/>
                <a:ea typeface="Open Sauce"/>
                <a:cs typeface="Open Sauce"/>
                <a:sym typeface="Open Sauce"/>
              </a:rPr>
              <a:t>r</a:t>
            </a:r>
            <a:r>
              <a:rPr lang="en-US" sz="2296">
                <a:solidFill>
                  <a:srgbClr val="000000"/>
                </a:solidFill>
                <a:latin typeface="Open Sauce"/>
                <a:ea typeface="Open Sauce"/>
                <a:cs typeface="Open Sauce"/>
                <a:sym typeface="Open Sauce"/>
              </a:rPr>
              <a:t> </a:t>
            </a:r>
            <a:r>
              <a:rPr lang="en-US" sz="2296" u="none">
                <a:solidFill>
                  <a:srgbClr val="000000"/>
                </a:solidFill>
                <a:latin typeface="Open Sauce"/>
                <a:ea typeface="Open Sauce"/>
                <a:cs typeface="Open Sauce"/>
                <a:sym typeface="Open Sauce"/>
              </a:rPr>
              <a:t>an</a:t>
            </a:r>
            <a:r>
              <a:rPr lang="en-US" sz="2296">
                <a:solidFill>
                  <a:srgbClr val="000000"/>
                </a:solidFill>
                <a:latin typeface="Open Sauce"/>
                <a:ea typeface="Open Sauce"/>
                <a:cs typeface="Open Sauce"/>
                <a:sym typeface="Open Sauce"/>
              </a:rPr>
              <a:t>d pricing effe</a:t>
            </a:r>
            <a:r>
              <a:rPr lang="en-US" sz="2296" u="none">
                <a:solidFill>
                  <a:srgbClr val="000000"/>
                </a:solidFill>
                <a:latin typeface="Open Sauce"/>
                <a:ea typeface="Open Sauce"/>
                <a:cs typeface="Open Sauce"/>
                <a:sym typeface="Open Sauce"/>
              </a:rPr>
              <a:t>cti</a:t>
            </a:r>
            <a:r>
              <a:rPr lang="en-US" sz="2296">
                <a:solidFill>
                  <a:srgbClr val="000000"/>
                </a:solidFill>
                <a:latin typeface="Open Sauce"/>
                <a:ea typeface="Open Sauce"/>
                <a:cs typeface="Open Sauce"/>
                <a:sym typeface="Open Sauce"/>
              </a:rPr>
              <a:t>ve</a:t>
            </a:r>
            <a:r>
              <a:rPr lang="en-US" sz="2296" u="none">
                <a:solidFill>
                  <a:srgbClr val="000000"/>
                </a:solidFill>
                <a:latin typeface="Open Sauce"/>
                <a:ea typeface="Open Sauce"/>
                <a:cs typeface="Open Sauce"/>
                <a:sym typeface="Open Sauce"/>
              </a:rPr>
              <a:t>n</a:t>
            </a:r>
            <a:r>
              <a:rPr lang="en-US" sz="2296">
                <a:solidFill>
                  <a:srgbClr val="000000"/>
                </a:solidFill>
                <a:latin typeface="Open Sauce"/>
                <a:ea typeface="Open Sauce"/>
                <a:cs typeface="Open Sauce"/>
                <a:sym typeface="Open Sauce"/>
              </a:rPr>
              <a:t>es</a:t>
            </a:r>
            <a:r>
              <a:rPr lang="en-US" sz="2296" u="none">
                <a:solidFill>
                  <a:srgbClr val="000000"/>
                </a:solidFill>
                <a:latin typeface="Open Sauce"/>
                <a:ea typeface="Open Sauce"/>
                <a:cs typeface="Open Sauce"/>
                <a:sym typeface="Open Sauce"/>
              </a:rPr>
              <a:t>s</a:t>
            </a:r>
            <a:r>
              <a:rPr lang="en-US" sz="2296">
                <a:solidFill>
                  <a:srgbClr val="000000"/>
                </a:solidFill>
                <a:latin typeface="Open Sauce"/>
                <a:ea typeface="Open Sauce"/>
                <a:cs typeface="Open Sauce"/>
                <a:sym typeface="Open Sauce"/>
              </a:rPr>
              <a:t>.</a:t>
            </a:r>
          </a:p>
          <a:p>
            <a:pPr algn="l">
              <a:lnSpc>
                <a:spcPts val="3674"/>
              </a:lnSpc>
            </a:pPr>
            <a:endParaRPr lang="en-US" sz="2296">
              <a:solidFill>
                <a:srgbClr val="000000"/>
              </a:solidFill>
              <a:latin typeface="Open Sauce"/>
              <a:ea typeface="Open Sauce"/>
              <a:cs typeface="Open Sauce"/>
              <a:sym typeface="Open Sauce"/>
            </a:endParaRPr>
          </a:p>
          <a:p>
            <a:pPr marL="495832" lvl="1" indent="-247916" algn="l">
              <a:lnSpc>
                <a:spcPts val="3674"/>
              </a:lnSpc>
              <a:buFont typeface="Arial"/>
              <a:buChar char="•"/>
            </a:pPr>
            <a:r>
              <a:rPr lang="en-US" sz="2296" b="1">
                <a:solidFill>
                  <a:srgbClr val="000000"/>
                </a:solidFill>
                <a:latin typeface="Open Sauce Bold"/>
                <a:ea typeface="Open Sauce Bold"/>
                <a:cs typeface="Open Sauce Bold"/>
                <a:sym typeface="Open Sauce Bold"/>
              </a:rPr>
              <a:t>Return R</a:t>
            </a:r>
            <a:r>
              <a:rPr lang="en-US" sz="2296" b="1" u="none">
                <a:solidFill>
                  <a:srgbClr val="000000"/>
                </a:solidFill>
                <a:latin typeface="Open Sauce Bold"/>
                <a:ea typeface="Open Sauce Bold"/>
                <a:cs typeface="Open Sauce Bold"/>
                <a:sym typeface="Open Sauce Bold"/>
              </a:rPr>
              <a:t>at</a:t>
            </a:r>
            <a:r>
              <a:rPr lang="en-US" sz="2296" b="1">
                <a:solidFill>
                  <a:srgbClr val="000000"/>
                </a:solidFill>
                <a:latin typeface="Open Sauce Bold"/>
                <a:ea typeface="Open Sauce Bold"/>
                <a:cs typeface="Open Sauce Bold"/>
                <a:sym typeface="Open Sauce Bold"/>
              </a:rPr>
              <a:t>e</a:t>
            </a:r>
            <a:r>
              <a:rPr lang="en-US" sz="2296">
                <a:solidFill>
                  <a:srgbClr val="000000"/>
                </a:solidFill>
                <a:latin typeface="Open Sauce"/>
                <a:ea typeface="Open Sauce"/>
                <a:cs typeface="Open Sauce"/>
                <a:sym typeface="Open Sauce"/>
              </a:rPr>
              <a:t> – Identifie</a:t>
            </a:r>
            <a:r>
              <a:rPr lang="en-US" sz="2296" u="none">
                <a:solidFill>
                  <a:srgbClr val="000000"/>
                </a:solidFill>
                <a:latin typeface="Open Sauce"/>
                <a:ea typeface="Open Sauce"/>
                <a:cs typeface="Open Sauce"/>
                <a:sym typeface="Open Sauce"/>
              </a:rPr>
              <a:t>s</a:t>
            </a:r>
            <a:r>
              <a:rPr lang="en-US" sz="2296">
                <a:solidFill>
                  <a:srgbClr val="000000"/>
                </a:solidFill>
                <a:latin typeface="Open Sauce"/>
                <a:ea typeface="Open Sauce"/>
                <a:cs typeface="Open Sauce"/>
                <a:sym typeface="Open Sauce"/>
              </a:rPr>
              <a:t> rev</a:t>
            </a:r>
            <a:r>
              <a:rPr lang="en-US" sz="2296" u="none">
                <a:solidFill>
                  <a:srgbClr val="000000"/>
                </a:solidFill>
                <a:latin typeface="Open Sauce"/>
                <a:ea typeface="Open Sauce"/>
                <a:cs typeface="Open Sauce"/>
                <a:sym typeface="Open Sauce"/>
              </a:rPr>
              <a:t>e</a:t>
            </a:r>
            <a:r>
              <a:rPr lang="en-US" sz="2296">
                <a:solidFill>
                  <a:srgbClr val="000000"/>
                </a:solidFill>
                <a:latin typeface="Open Sauce"/>
                <a:ea typeface="Open Sauce"/>
                <a:cs typeface="Open Sauce"/>
                <a:sym typeface="Open Sauce"/>
              </a:rPr>
              <a:t>nue le</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k</a:t>
            </a:r>
            <a:r>
              <a:rPr lang="en-US" sz="2296" u="none">
                <a:solidFill>
                  <a:srgbClr val="000000"/>
                </a:solidFill>
                <a:latin typeface="Open Sauce"/>
                <a:ea typeface="Open Sauce"/>
                <a:cs typeface="Open Sauce"/>
                <a:sym typeface="Open Sauce"/>
              </a:rPr>
              <a:t>a</a:t>
            </a:r>
            <a:r>
              <a:rPr lang="en-US" sz="2296">
                <a:solidFill>
                  <a:srgbClr val="000000"/>
                </a:solidFill>
                <a:latin typeface="Open Sauce"/>
                <a:ea typeface="Open Sauce"/>
                <a:cs typeface="Open Sauce"/>
                <a:sym typeface="Open Sauce"/>
              </a:rPr>
              <a:t>ge and operational inefficiencies previously hidden in gross sales.</a:t>
            </a:r>
          </a:p>
          <a:p>
            <a:pPr algn="l">
              <a:lnSpc>
                <a:spcPts val="3674"/>
              </a:lnSpc>
            </a:pPr>
            <a:endParaRPr lang="en-US" sz="2296">
              <a:solidFill>
                <a:srgbClr val="000000"/>
              </a:solidFill>
              <a:latin typeface="Open Sauce"/>
              <a:ea typeface="Open Sauce"/>
              <a:cs typeface="Open Sauce"/>
              <a:sym typeface="Open Sauce"/>
            </a:endParaRPr>
          </a:p>
          <a:p>
            <a:pPr marL="0" lvl="0" indent="0" algn="l">
              <a:lnSpc>
                <a:spcPts val="3674"/>
              </a:lnSpc>
            </a:pPr>
            <a:endParaRPr lang="en-US" sz="2296">
              <a:solidFill>
                <a:srgbClr val="000000"/>
              </a:solidFill>
              <a:latin typeface="Open Sauce"/>
              <a:ea typeface="Open Sauce"/>
              <a:cs typeface="Open Sauce"/>
              <a:sym typeface="Open Sauce"/>
            </a:endParaRPr>
          </a:p>
        </p:txBody>
      </p:sp>
      <p:sp>
        <p:nvSpPr>
          <p:cNvPr id="4" name="TextBox 4"/>
          <p:cNvSpPr txBox="1"/>
          <p:nvPr/>
        </p:nvSpPr>
        <p:spPr>
          <a:xfrm>
            <a:off x="1166399" y="1532129"/>
            <a:ext cx="7845835" cy="613410"/>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KPIs Measured &amp; Why They Matter</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7" name="TextBox 7"/>
          <p:cNvSpPr txBox="1"/>
          <p:nvPr/>
        </p:nvSpPr>
        <p:spPr>
          <a:xfrm>
            <a:off x="5587575" y="47954"/>
            <a:ext cx="6744451"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KPI &amp; Metrics Framework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5685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5748351" y="257175"/>
            <a:ext cx="6748449" cy="778510"/>
          </a:xfrm>
          <a:prstGeom prst="rect">
            <a:avLst/>
          </a:prstGeom>
        </p:spPr>
        <p:txBody>
          <a:bodyPr wrap="square" lIns="0" tIns="0" rIns="0" bIns="0" rtlCol="0" anchor="t">
            <a:spAutoFit/>
          </a:bodyPr>
          <a:lstStyle/>
          <a:p>
            <a:pPr algn="ctr">
              <a:lnSpc>
                <a:spcPts val="6439"/>
              </a:lnSpc>
            </a:pPr>
            <a:r>
              <a:rPr lang="en-US" sz="4599" b="1" dirty="0">
                <a:solidFill>
                  <a:srgbClr val="000000"/>
                </a:solidFill>
                <a:latin typeface="Canva Sans Bold"/>
                <a:ea typeface="Canva Sans Bold"/>
                <a:cs typeface="Canva Sans Bold"/>
                <a:sym typeface="Canva Sans Bold"/>
              </a:rPr>
              <a:t>Advanced Analysis</a:t>
            </a:r>
          </a:p>
        </p:txBody>
      </p:sp>
      <p:sp>
        <p:nvSpPr>
          <p:cNvPr id="4" name="TextBox 4"/>
          <p:cNvSpPr txBox="1"/>
          <p:nvPr/>
        </p:nvSpPr>
        <p:spPr>
          <a:xfrm>
            <a:off x="9139238" y="4866322"/>
            <a:ext cx="9525" cy="459105"/>
          </a:xfrm>
          <a:prstGeom prst="rect">
            <a:avLst/>
          </a:prstGeom>
        </p:spPr>
        <p:txBody>
          <a:bodyPr lIns="0" tIns="0" rIns="0" bIns="0" rtlCol="0" anchor="t">
            <a:spAutoFit/>
          </a:bodyPr>
          <a:lstStyle/>
          <a:p>
            <a:pPr algn="ctr">
              <a:lnSpc>
                <a:spcPts val="3840"/>
              </a:lnSpc>
              <a:spcBef>
                <a:spcPct val="0"/>
              </a:spcBef>
            </a:pPr>
            <a:endParaRPr/>
          </a:p>
        </p:txBody>
      </p:sp>
      <p:sp>
        <p:nvSpPr>
          <p:cNvPr id="5" name="TextBox 5"/>
          <p:cNvSpPr txBox="1"/>
          <p:nvPr/>
        </p:nvSpPr>
        <p:spPr>
          <a:xfrm>
            <a:off x="609211" y="1897349"/>
            <a:ext cx="10278280" cy="613410"/>
          </a:xfrm>
          <a:prstGeom prst="rect">
            <a:avLst/>
          </a:prstGeom>
        </p:spPr>
        <p:txBody>
          <a:bodyPr wrap="square"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Customer Segmentation (80-20 Analysis)</a:t>
            </a:r>
          </a:p>
        </p:txBody>
      </p:sp>
      <p:sp>
        <p:nvSpPr>
          <p:cNvPr id="6" name="TextBox 6"/>
          <p:cNvSpPr txBox="1"/>
          <p:nvPr/>
        </p:nvSpPr>
        <p:spPr>
          <a:xfrm>
            <a:off x="9139238" y="4866322"/>
            <a:ext cx="9525" cy="459105"/>
          </a:xfrm>
          <a:prstGeom prst="rect">
            <a:avLst/>
          </a:prstGeom>
        </p:spPr>
        <p:txBody>
          <a:bodyPr lIns="0" tIns="0" rIns="0" bIns="0" rtlCol="0" anchor="t">
            <a:spAutoFit/>
          </a:bodyPr>
          <a:lstStyle/>
          <a:p>
            <a:pPr algn="ctr">
              <a:lnSpc>
                <a:spcPts val="3840"/>
              </a:lnSpc>
              <a:spcBef>
                <a:spcPct val="0"/>
              </a:spcBef>
            </a:pPr>
            <a:endParaRPr/>
          </a:p>
        </p:txBody>
      </p:sp>
      <p:sp>
        <p:nvSpPr>
          <p:cNvPr id="7" name="TextBox 7"/>
          <p:cNvSpPr txBox="1"/>
          <p:nvPr/>
        </p:nvSpPr>
        <p:spPr>
          <a:xfrm>
            <a:off x="9139238" y="4819967"/>
            <a:ext cx="9525" cy="580390"/>
          </a:xfrm>
          <a:prstGeom prst="rect">
            <a:avLst/>
          </a:prstGeom>
        </p:spPr>
        <p:txBody>
          <a:bodyPr lIns="0" tIns="0" rIns="0" bIns="0" rtlCol="0" anchor="t">
            <a:spAutoFit/>
          </a:bodyPr>
          <a:lstStyle/>
          <a:p>
            <a:pPr algn="ctr">
              <a:lnSpc>
                <a:spcPts val="4759"/>
              </a:lnSpc>
            </a:pPr>
            <a:endParaRPr/>
          </a:p>
        </p:txBody>
      </p:sp>
      <p:sp>
        <p:nvSpPr>
          <p:cNvPr id="8" name="TextBox 8"/>
          <p:cNvSpPr txBox="1"/>
          <p:nvPr/>
        </p:nvSpPr>
        <p:spPr>
          <a:xfrm>
            <a:off x="1261162" y="2456498"/>
            <a:ext cx="15756151" cy="2759710"/>
          </a:xfrm>
          <a:prstGeom prst="rect">
            <a:avLst/>
          </a:prstGeom>
        </p:spPr>
        <p:txBody>
          <a:bodyPr lIns="0" tIns="0" rIns="0" bIns="0" rtlCol="0" anchor="t">
            <a:spAutoFit/>
          </a:bodyPr>
          <a:lstStyle/>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The Findings: Our analysis of the 4,256 unique customers revealed a significant revenue concentration. The Top 10 Customers alone contribute approximately $16.8M to the total revenue.</a:t>
            </a:r>
          </a:p>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Top Performer: Customer C4163 is the highest contributor with $1.79M in transaction value.</a:t>
            </a:r>
          </a:p>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Strategic Shift: This allows the business to move away from "mass marketing" and instead focus on a High-Value Retention (HVR) strategy for the top 5% of the customer base.</a:t>
            </a:r>
          </a:p>
          <a:p>
            <a:pPr marL="0" lvl="0" indent="0" algn="l">
              <a:lnSpc>
                <a:spcPts val="3680"/>
              </a:lnSpc>
              <a:spcBef>
                <a:spcPct val="0"/>
              </a:spcBef>
            </a:pPr>
            <a:endParaRPr lang="en-US" sz="2300">
              <a:solidFill>
                <a:srgbClr val="000000"/>
              </a:solidFill>
              <a:latin typeface="Open Sauce"/>
              <a:ea typeface="Open Sauce"/>
              <a:cs typeface="Open Sauce"/>
              <a:sym typeface="Open Sauce"/>
            </a:endParaRPr>
          </a:p>
        </p:txBody>
      </p:sp>
      <p:sp>
        <p:nvSpPr>
          <p:cNvPr id="9" name="TextBox 9"/>
          <p:cNvSpPr txBox="1"/>
          <p:nvPr/>
        </p:nvSpPr>
        <p:spPr>
          <a:xfrm>
            <a:off x="1182096" y="5577554"/>
            <a:ext cx="4551015" cy="613410"/>
          </a:xfrm>
          <a:prstGeom prst="rect">
            <a:avLst/>
          </a:prstGeom>
        </p:spPr>
        <p:txBody>
          <a:bodyPr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Anomaly Detection: </a:t>
            </a:r>
          </a:p>
        </p:txBody>
      </p:sp>
      <p:sp>
        <p:nvSpPr>
          <p:cNvPr id="10" name="TextBox 10"/>
          <p:cNvSpPr txBox="1"/>
          <p:nvPr/>
        </p:nvSpPr>
        <p:spPr>
          <a:xfrm>
            <a:off x="1261162" y="6190964"/>
            <a:ext cx="15644272" cy="2292985"/>
          </a:xfrm>
          <a:prstGeom prst="rect">
            <a:avLst/>
          </a:prstGeom>
        </p:spPr>
        <p:txBody>
          <a:bodyPr lIns="0" tIns="0" rIns="0" bIns="0" rtlCol="0" anchor="t">
            <a:spAutoFit/>
          </a:bodyPr>
          <a:lstStyle/>
          <a:p>
            <a:pPr algn="l">
              <a:lnSpc>
                <a:spcPts val="3680"/>
              </a:lnSpc>
            </a:pPr>
            <a:r>
              <a:rPr lang="en-US" sz="2300">
                <a:solidFill>
                  <a:srgbClr val="000000"/>
                </a:solidFill>
                <a:latin typeface="Open Sauce"/>
                <a:ea typeface="Open Sauce"/>
                <a:cs typeface="Open Sauce"/>
                <a:sym typeface="Open Sauce"/>
              </a:rPr>
              <a:t>Revenue spikes in January and March were caused by an abnormal surge in transaction volume (~ 3,400 transactions vs. ~ 250 monthly average). Average selling price remained stable (~ $515), confirming the spike was quantity-driven rather than pricing-driven. The pattern appears systemic rather than product-specific, suggesting either promotional campaign activity or dataset-level structural anomaly.</a:t>
            </a:r>
          </a:p>
          <a:p>
            <a:pPr marL="0" lvl="0" indent="0" algn="l">
              <a:lnSpc>
                <a:spcPts val="3680"/>
              </a:lnSpc>
              <a:spcBef>
                <a:spcPct val="0"/>
              </a:spcBef>
            </a:pPr>
            <a:endParaRPr lang="en-US" sz="2300">
              <a:solidFill>
                <a:srgbClr val="000000"/>
              </a:solidFill>
              <a:latin typeface="Open Sauce"/>
              <a:ea typeface="Open Sauce"/>
              <a:cs typeface="Open Sauce"/>
              <a:sym typeface="Open Sau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804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001762" y="962025"/>
            <a:ext cx="8599438" cy="600036"/>
          </a:xfrm>
          <a:prstGeom prst="rect">
            <a:avLst/>
          </a:prstGeom>
        </p:spPr>
        <p:txBody>
          <a:bodyPr wrap="square"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Financial "What-If" Scenario Modeling</a:t>
            </a:r>
          </a:p>
        </p:txBody>
      </p:sp>
      <p:sp>
        <p:nvSpPr>
          <p:cNvPr id="4" name="TextBox 4"/>
          <p:cNvSpPr txBox="1"/>
          <p:nvPr/>
        </p:nvSpPr>
        <p:spPr>
          <a:xfrm>
            <a:off x="1116583" y="2456498"/>
            <a:ext cx="14863558" cy="5093335"/>
          </a:xfrm>
          <a:prstGeom prst="rect">
            <a:avLst/>
          </a:prstGeom>
        </p:spPr>
        <p:txBody>
          <a:bodyPr lIns="0" tIns="0" rIns="0" bIns="0" rtlCol="0" anchor="t">
            <a:spAutoFit/>
          </a:bodyPr>
          <a:lstStyle/>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Current State: The business operates with a 33.96% Return Rate, leading to a massive gap between Gross and Net Revenue.</a:t>
            </a:r>
          </a:p>
          <a:p>
            <a:pPr algn="l">
              <a:lnSpc>
                <a:spcPts val="3680"/>
              </a:lnSpc>
            </a:pPr>
            <a:endParaRPr lang="en-US" sz="230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Scenario A (Target 20%): Reducing the return rate to 20% would reclaim approximately $91M in Net Revenue.</a:t>
            </a:r>
          </a:p>
          <a:p>
            <a:pPr algn="l">
              <a:lnSpc>
                <a:spcPts val="3680"/>
              </a:lnSpc>
            </a:pPr>
            <a:endParaRPr lang="en-US" sz="230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Scenario B (Target 15%): Reducing the return rate to 15% would reclaim approximately $126M.</a:t>
            </a:r>
          </a:p>
          <a:p>
            <a:pPr algn="l">
              <a:lnSpc>
                <a:spcPts val="3680"/>
              </a:lnSpc>
            </a:pPr>
            <a:endParaRPr lang="en-US" sz="230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a:solidFill>
                  <a:srgbClr val="000000"/>
                </a:solidFill>
                <a:latin typeface="Open Sauce"/>
                <a:ea typeface="Open Sauce"/>
                <a:cs typeface="Open Sauce"/>
                <a:sym typeface="Open Sauce"/>
              </a:rPr>
              <a:t>Conclusion: This analysis proves that "Return Mitigation" is a more powerful lever for profit than "New Customer Acquisition" at this stage.</a:t>
            </a:r>
          </a:p>
          <a:p>
            <a:pPr marL="0" lvl="0" indent="0" algn="l">
              <a:lnSpc>
                <a:spcPts val="3680"/>
              </a:lnSpc>
              <a:spcBef>
                <a:spcPct val="0"/>
              </a:spcBef>
            </a:pPr>
            <a:endParaRPr lang="en-US" sz="2300">
              <a:solidFill>
                <a:srgbClr val="000000"/>
              </a:solidFill>
              <a:latin typeface="Open Sauce"/>
              <a:ea typeface="Open Sauce"/>
              <a:cs typeface="Open Sauce"/>
              <a:sym typeface="Open Sau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166399" y="2019704"/>
            <a:ext cx="15264339" cy="7895224"/>
          </a:xfrm>
          <a:prstGeom prst="rect">
            <a:avLst/>
          </a:prstGeom>
        </p:spPr>
        <p:txBody>
          <a:bodyPr lIns="0" tIns="0" rIns="0" bIns="0" rtlCol="0" anchor="t">
            <a:spAutoFit/>
          </a:bodyPr>
          <a:lstStyle/>
          <a:p>
            <a:pPr algn="l">
              <a:lnSpc>
                <a:spcPts val="3354"/>
              </a:lnSpc>
            </a:pPr>
            <a:endParaRPr/>
          </a:p>
          <a:p>
            <a:pPr marL="452654" lvl="1" indent="-226327" algn="l">
              <a:lnSpc>
                <a:spcPts val="3354"/>
              </a:lnSpc>
              <a:buFont typeface="Arial"/>
              <a:buChar char="•"/>
            </a:pPr>
            <a:r>
              <a:rPr lang="en-US" sz="2096">
                <a:solidFill>
                  <a:srgbClr val="000000"/>
                </a:solidFill>
                <a:latin typeface="Open Sauce"/>
                <a:ea typeface="Open Sauce"/>
                <a:cs typeface="Open Sauce"/>
                <a:sym typeface="Open Sauce"/>
              </a:rPr>
              <a:t>Revenue is materially impacted by returns (33.96%), meaning one out of every three transactions reduces realized revenue rather than contributing to growth.</a:t>
            </a:r>
          </a:p>
          <a:p>
            <a:pPr algn="l">
              <a:lnSpc>
                <a:spcPts val="3354"/>
              </a:lnSpc>
            </a:pPr>
            <a:endParaRPr lang="en-US" sz="2096">
              <a:solidFill>
                <a:srgbClr val="000000"/>
              </a:solidFill>
              <a:latin typeface="Open Sauce"/>
              <a:ea typeface="Open Sauce"/>
              <a:cs typeface="Open Sauce"/>
              <a:sym typeface="Open Sauce"/>
            </a:endParaRPr>
          </a:p>
          <a:p>
            <a:pPr marL="495835" lvl="1" indent="-247918" algn="l">
              <a:lnSpc>
                <a:spcPts val="3674"/>
              </a:lnSpc>
              <a:buFont typeface="Arial"/>
              <a:buChar char="•"/>
            </a:pPr>
            <a:r>
              <a:rPr lang="en-US" sz="2296">
                <a:solidFill>
                  <a:srgbClr val="000000"/>
                </a:solidFill>
                <a:latin typeface="Open Sauce"/>
                <a:ea typeface="Open Sauce"/>
                <a:cs typeface="Open Sauce"/>
                <a:sym typeface="Open Sauce"/>
              </a:rPr>
              <a:t>Only ~60% of transactions are successfully completed, indicating significant operational inefficiency in payment processing and checkout flow.</a:t>
            </a:r>
          </a:p>
          <a:p>
            <a:pPr algn="l">
              <a:lnSpc>
                <a:spcPts val="3354"/>
              </a:lnSpc>
            </a:pPr>
            <a:endParaRPr lang="en-US" sz="2296">
              <a:solidFill>
                <a:srgbClr val="000000"/>
              </a:solidFill>
              <a:latin typeface="Open Sauce"/>
              <a:ea typeface="Open Sauce"/>
              <a:cs typeface="Open Sauce"/>
              <a:sym typeface="Open Sauce"/>
            </a:endParaRPr>
          </a:p>
          <a:p>
            <a:pPr marL="452654" lvl="1" indent="-226327" algn="l">
              <a:lnSpc>
                <a:spcPts val="3354"/>
              </a:lnSpc>
              <a:buFont typeface="Arial"/>
              <a:buChar char="•"/>
            </a:pPr>
            <a:r>
              <a:rPr lang="en-US" sz="2096">
                <a:solidFill>
                  <a:srgbClr val="000000"/>
                </a:solidFill>
                <a:latin typeface="Open Sauce"/>
                <a:ea typeface="Open Sauce"/>
                <a:cs typeface="Open Sauce"/>
                <a:sym typeface="Open Sauce"/>
              </a:rPr>
              <a:t>Revenue is evenly distributed across all five products (19–21% each), reducing dependency risk but limiting single-product growth leverage.</a:t>
            </a:r>
          </a:p>
          <a:p>
            <a:pPr algn="l">
              <a:lnSpc>
                <a:spcPts val="3354"/>
              </a:lnSpc>
            </a:pPr>
            <a:endParaRPr lang="en-US" sz="2096">
              <a:solidFill>
                <a:srgbClr val="000000"/>
              </a:solidFill>
              <a:latin typeface="Open Sauce"/>
              <a:ea typeface="Open Sauce"/>
              <a:cs typeface="Open Sauce"/>
              <a:sym typeface="Open Sauce"/>
            </a:endParaRPr>
          </a:p>
          <a:p>
            <a:pPr marL="495835" lvl="1" indent="-247918" algn="l">
              <a:lnSpc>
                <a:spcPts val="3674"/>
              </a:lnSpc>
              <a:buFont typeface="Arial"/>
              <a:buChar char="•"/>
            </a:pPr>
            <a:r>
              <a:rPr lang="en-US" sz="2296">
                <a:solidFill>
                  <a:srgbClr val="000000"/>
                </a:solidFill>
                <a:latin typeface="Open Sauce"/>
                <a:ea typeface="Open Sauce"/>
                <a:cs typeface="Open Sauce"/>
                <a:sym typeface="Open Sauce"/>
              </a:rPr>
              <a:t>Smartphones generate the highest revenue share (~20.7%), positioning them as a strategic priority for inventory and promotional focus.</a:t>
            </a:r>
          </a:p>
          <a:p>
            <a:pPr algn="l">
              <a:lnSpc>
                <a:spcPts val="3354"/>
              </a:lnSpc>
            </a:pPr>
            <a:endParaRPr lang="en-US" sz="2296">
              <a:solidFill>
                <a:srgbClr val="000000"/>
              </a:solidFill>
              <a:latin typeface="Open Sauce"/>
              <a:ea typeface="Open Sauce"/>
              <a:cs typeface="Open Sauce"/>
              <a:sym typeface="Open Sauce"/>
            </a:endParaRPr>
          </a:p>
          <a:p>
            <a:pPr marL="452654" lvl="1" indent="-226327" algn="l">
              <a:lnSpc>
                <a:spcPts val="3354"/>
              </a:lnSpc>
              <a:buFont typeface="Arial"/>
              <a:buChar char="•"/>
            </a:pPr>
            <a:r>
              <a:rPr lang="en-US" sz="2096">
                <a:solidFill>
                  <a:srgbClr val="000000"/>
                </a:solidFill>
                <a:latin typeface="Open Sauce"/>
                <a:ea typeface="Open Sauce"/>
                <a:cs typeface="Open Sauce"/>
                <a:sym typeface="Open Sauce"/>
              </a:rPr>
              <a:t>Digital payment methods (PayPal &amp; Credit Card) contribute over 85% of total revenue, making system reliability in these channels business-critical.</a:t>
            </a:r>
          </a:p>
          <a:p>
            <a:pPr algn="l">
              <a:lnSpc>
                <a:spcPts val="3354"/>
              </a:lnSpc>
            </a:pPr>
            <a:endParaRPr lang="en-US" sz="2096">
              <a:solidFill>
                <a:srgbClr val="000000"/>
              </a:solidFill>
              <a:latin typeface="Open Sauce"/>
              <a:ea typeface="Open Sauce"/>
              <a:cs typeface="Open Sauce"/>
              <a:sym typeface="Open Sauce"/>
            </a:endParaRPr>
          </a:p>
          <a:p>
            <a:pPr marL="452654" lvl="1" indent="-226327" algn="l">
              <a:lnSpc>
                <a:spcPts val="3354"/>
              </a:lnSpc>
              <a:buFont typeface="Arial"/>
              <a:buChar char="•"/>
            </a:pPr>
            <a:r>
              <a:rPr lang="en-US" sz="2096">
                <a:solidFill>
                  <a:srgbClr val="000000"/>
                </a:solidFill>
                <a:latin typeface="Open Sauce"/>
                <a:ea typeface="Open Sauce"/>
                <a:cs typeface="Open Sauce"/>
                <a:sym typeface="Open Sauce"/>
              </a:rPr>
              <a:t>Top customers generate multi-million-dollar revenue individually, highlighting the importance of high-value customer retention strategies.</a:t>
            </a:r>
          </a:p>
          <a:p>
            <a:pPr marL="0" lvl="0" indent="0" algn="l">
              <a:lnSpc>
                <a:spcPts val="1434"/>
              </a:lnSpc>
            </a:pPr>
            <a:endParaRPr lang="en-US" sz="2096">
              <a:solidFill>
                <a:srgbClr val="000000"/>
              </a:solidFill>
              <a:latin typeface="Open Sauce"/>
              <a:ea typeface="Open Sauce"/>
              <a:cs typeface="Open Sauce"/>
              <a:sym typeface="Open Sauce"/>
            </a:endParaRPr>
          </a:p>
        </p:txBody>
      </p:sp>
      <p:sp>
        <p:nvSpPr>
          <p:cNvPr id="4" name="TextBox 4"/>
          <p:cNvSpPr txBox="1"/>
          <p:nvPr/>
        </p:nvSpPr>
        <p:spPr>
          <a:xfrm>
            <a:off x="1166399" y="1266127"/>
            <a:ext cx="3174674" cy="613410"/>
          </a:xfrm>
          <a:prstGeom prst="rect">
            <a:avLst/>
          </a:prstGeom>
        </p:spPr>
        <p:txBody>
          <a:bodyPr lIns="0" tIns="0" rIns="0" bIns="0" rtlCol="0" anchor="t">
            <a:spAutoFit/>
          </a:bodyPr>
          <a:lstStyle/>
          <a:p>
            <a:pPr algn="l">
              <a:lnSpc>
                <a:spcPts val="5040"/>
              </a:lnSpc>
            </a:pPr>
            <a:r>
              <a:rPr lang="en-US" sz="3600">
                <a:solidFill>
                  <a:srgbClr val="000000"/>
                </a:solidFill>
                <a:latin typeface="DM Serif Display"/>
                <a:ea typeface="DM Serif Display"/>
                <a:cs typeface="DM Serif Display"/>
                <a:sym typeface="DM Serif Display"/>
              </a:rPr>
              <a:t>Key Insights</a:t>
            </a:r>
          </a:p>
        </p:txBody>
      </p:sp>
      <p:sp>
        <p:nvSpPr>
          <p:cNvPr id="5" name="TextBox 5"/>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3</a:t>
            </a:r>
          </a:p>
        </p:txBody>
      </p:sp>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7" name="TextBox 7"/>
          <p:cNvSpPr txBox="1"/>
          <p:nvPr/>
        </p:nvSpPr>
        <p:spPr>
          <a:xfrm>
            <a:off x="8421762" y="47954"/>
            <a:ext cx="2178260"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EDA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9287" y="1254504"/>
            <a:ext cx="16425156" cy="1334035"/>
          </a:xfrm>
          <a:custGeom>
            <a:avLst/>
            <a:gdLst/>
            <a:ahLst/>
            <a:cxnLst/>
            <a:rect l="l" t="t" r="r" b="b"/>
            <a:pathLst>
              <a:path w="16425156" h="1334035">
                <a:moveTo>
                  <a:pt x="0" y="0"/>
                </a:moveTo>
                <a:lnTo>
                  <a:pt x="16425156" y="0"/>
                </a:lnTo>
                <a:lnTo>
                  <a:pt x="16425156" y="1334035"/>
                </a:lnTo>
                <a:lnTo>
                  <a:pt x="0" y="1334035"/>
                </a:lnTo>
                <a:lnTo>
                  <a:pt x="0" y="0"/>
                </a:lnTo>
                <a:close/>
              </a:path>
            </a:pathLst>
          </a:custGeom>
          <a:blipFill>
            <a:blip r:embed="rId2"/>
            <a:stretch>
              <a:fillRect t="-8812" b="-5077"/>
            </a:stretch>
          </a:blipFill>
        </p:spPr>
        <p:txBody>
          <a:bodyPr/>
          <a:lstStyle/>
          <a:p>
            <a:endParaRPr lang="en-US"/>
          </a:p>
        </p:txBody>
      </p:sp>
      <p:sp>
        <p:nvSpPr>
          <p:cNvPr id="3" name="Freeform 3"/>
          <p:cNvSpPr/>
          <p:nvPr/>
        </p:nvSpPr>
        <p:spPr>
          <a:xfrm>
            <a:off x="1183142" y="6632498"/>
            <a:ext cx="4924330" cy="3387303"/>
          </a:xfrm>
          <a:custGeom>
            <a:avLst/>
            <a:gdLst/>
            <a:ahLst/>
            <a:cxnLst/>
            <a:rect l="l" t="t" r="r" b="b"/>
            <a:pathLst>
              <a:path w="4924330" h="3387303">
                <a:moveTo>
                  <a:pt x="0" y="0"/>
                </a:moveTo>
                <a:lnTo>
                  <a:pt x="4924330" y="0"/>
                </a:lnTo>
                <a:lnTo>
                  <a:pt x="4924330" y="3387303"/>
                </a:lnTo>
                <a:lnTo>
                  <a:pt x="0" y="3387303"/>
                </a:lnTo>
                <a:lnTo>
                  <a:pt x="0" y="0"/>
                </a:lnTo>
                <a:close/>
              </a:path>
            </a:pathLst>
          </a:custGeom>
          <a:blipFill>
            <a:blip r:embed="rId3"/>
            <a:stretch>
              <a:fillRect t="-2240" r="-1774" b="-4565"/>
            </a:stretch>
          </a:blipFill>
          <a:ln w="38100" cap="sq">
            <a:solidFill>
              <a:srgbClr val="000000"/>
            </a:solidFill>
            <a:prstDash val="solid"/>
            <a:miter/>
          </a:ln>
        </p:spPr>
        <p:txBody>
          <a:bodyPr/>
          <a:lstStyle/>
          <a:p>
            <a:endParaRPr lang="en-US"/>
          </a:p>
        </p:txBody>
      </p:sp>
      <p:sp>
        <p:nvSpPr>
          <p:cNvPr id="4" name="Freeform 4"/>
          <p:cNvSpPr/>
          <p:nvPr/>
        </p:nvSpPr>
        <p:spPr>
          <a:xfrm>
            <a:off x="6505907" y="6679989"/>
            <a:ext cx="5276185" cy="3206146"/>
          </a:xfrm>
          <a:custGeom>
            <a:avLst/>
            <a:gdLst/>
            <a:ahLst/>
            <a:cxnLst/>
            <a:rect l="l" t="t" r="r" b="b"/>
            <a:pathLst>
              <a:path w="5276185" h="3206146">
                <a:moveTo>
                  <a:pt x="0" y="0"/>
                </a:moveTo>
                <a:lnTo>
                  <a:pt x="5276186" y="0"/>
                </a:lnTo>
                <a:lnTo>
                  <a:pt x="5276186" y="3206147"/>
                </a:lnTo>
                <a:lnTo>
                  <a:pt x="0" y="3206147"/>
                </a:lnTo>
                <a:lnTo>
                  <a:pt x="0" y="0"/>
                </a:lnTo>
                <a:close/>
              </a:path>
            </a:pathLst>
          </a:custGeom>
          <a:blipFill>
            <a:blip r:embed="rId4"/>
            <a:stretch>
              <a:fillRect t="-1046" b="-1046"/>
            </a:stretch>
          </a:blipFill>
          <a:ln w="38100" cap="sq">
            <a:solidFill>
              <a:srgbClr val="000000"/>
            </a:solidFill>
            <a:prstDash val="solid"/>
            <a:miter/>
          </a:ln>
        </p:spPr>
        <p:txBody>
          <a:bodyPr/>
          <a:lstStyle/>
          <a:p>
            <a:endParaRPr lang="en-US"/>
          </a:p>
        </p:txBody>
      </p:sp>
      <p:sp>
        <p:nvSpPr>
          <p:cNvPr id="5" name="Freeform 5"/>
          <p:cNvSpPr/>
          <p:nvPr/>
        </p:nvSpPr>
        <p:spPr>
          <a:xfrm>
            <a:off x="6505907" y="3260131"/>
            <a:ext cx="5276185" cy="2888497"/>
          </a:xfrm>
          <a:custGeom>
            <a:avLst/>
            <a:gdLst/>
            <a:ahLst/>
            <a:cxnLst/>
            <a:rect l="l" t="t" r="r" b="b"/>
            <a:pathLst>
              <a:path w="5276185" h="2888497">
                <a:moveTo>
                  <a:pt x="0" y="0"/>
                </a:moveTo>
                <a:lnTo>
                  <a:pt x="5276186" y="0"/>
                </a:lnTo>
                <a:lnTo>
                  <a:pt x="5276186" y="2888497"/>
                </a:lnTo>
                <a:lnTo>
                  <a:pt x="0" y="2888497"/>
                </a:lnTo>
                <a:lnTo>
                  <a:pt x="0" y="0"/>
                </a:lnTo>
                <a:close/>
              </a:path>
            </a:pathLst>
          </a:custGeom>
          <a:blipFill>
            <a:blip r:embed="rId5"/>
            <a:stretch>
              <a:fillRect r="-5587" b="-2303"/>
            </a:stretch>
          </a:blipFill>
          <a:ln w="38100" cap="sq">
            <a:solidFill>
              <a:srgbClr val="000000"/>
            </a:solidFill>
            <a:prstDash val="solid"/>
            <a:miter/>
          </a:ln>
        </p:spPr>
        <p:txBody>
          <a:bodyPr/>
          <a:lstStyle/>
          <a:p>
            <a:endParaRPr lang="en-US"/>
          </a:p>
        </p:txBody>
      </p:sp>
      <p:sp>
        <p:nvSpPr>
          <p:cNvPr id="6" name="Freeform 6"/>
          <p:cNvSpPr/>
          <p:nvPr/>
        </p:nvSpPr>
        <p:spPr>
          <a:xfrm>
            <a:off x="1109287" y="3361087"/>
            <a:ext cx="4998185" cy="2787541"/>
          </a:xfrm>
          <a:custGeom>
            <a:avLst/>
            <a:gdLst/>
            <a:ahLst/>
            <a:cxnLst/>
            <a:rect l="l" t="t" r="r" b="b"/>
            <a:pathLst>
              <a:path w="4998185" h="2787541">
                <a:moveTo>
                  <a:pt x="0" y="0"/>
                </a:moveTo>
                <a:lnTo>
                  <a:pt x="4998185" y="0"/>
                </a:lnTo>
                <a:lnTo>
                  <a:pt x="4998185" y="2787541"/>
                </a:lnTo>
                <a:lnTo>
                  <a:pt x="0" y="2787541"/>
                </a:lnTo>
                <a:lnTo>
                  <a:pt x="0" y="0"/>
                </a:lnTo>
                <a:close/>
              </a:path>
            </a:pathLst>
          </a:custGeom>
          <a:blipFill>
            <a:blip r:embed="rId6"/>
            <a:stretch>
              <a:fillRect t="-2221" b="-2221"/>
            </a:stretch>
          </a:blipFill>
          <a:ln w="38100" cap="sq">
            <a:solidFill>
              <a:srgbClr val="000000"/>
            </a:solidFill>
            <a:prstDash val="solid"/>
            <a:miter/>
          </a:ln>
        </p:spPr>
        <p:txBody>
          <a:bodyPr/>
          <a:lstStyle/>
          <a:p>
            <a:endParaRPr lang="en-US"/>
          </a:p>
        </p:txBody>
      </p:sp>
      <p:sp>
        <p:nvSpPr>
          <p:cNvPr id="7" name="Freeform 7"/>
          <p:cNvSpPr/>
          <p:nvPr/>
        </p:nvSpPr>
        <p:spPr>
          <a:xfrm>
            <a:off x="12226823" y="3320362"/>
            <a:ext cx="5307620" cy="2868992"/>
          </a:xfrm>
          <a:custGeom>
            <a:avLst/>
            <a:gdLst/>
            <a:ahLst/>
            <a:cxnLst/>
            <a:rect l="l" t="t" r="r" b="b"/>
            <a:pathLst>
              <a:path w="5307620" h="2868992">
                <a:moveTo>
                  <a:pt x="0" y="0"/>
                </a:moveTo>
                <a:lnTo>
                  <a:pt x="5307620" y="0"/>
                </a:lnTo>
                <a:lnTo>
                  <a:pt x="5307620" y="2868992"/>
                </a:lnTo>
                <a:lnTo>
                  <a:pt x="0" y="2868992"/>
                </a:lnTo>
                <a:lnTo>
                  <a:pt x="0" y="0"/>
                </a:lnTo>
                <a:close/>
              </a:path>
            </a:pathLst>
          </a:custGeom>
          <a:blipFill>
            <a:blip r:embed="rId7"/>
            <a:stretch>
              <a:fillRect r="-7352"/>
            </a:stretch>
          </a:blipFill>
          <a:ln w="38100" cap="sq">
            <a:solidFill>
              <a:srgbClr val="000000"/>
            </a:solidFill>
            <a:prstDash val="solid"/>
            <a:miter/>
          </a:ln>
        </p:spPr>
        <p:txBody>
          <a:bodyPr/>
          <a:lstStyle/>
          <a:p>
            <a:endParaRPr lang="en-US"/>
          </a:p>
        </p:txBody>
      </p:sp>
      <p:sp>
        <p:nvSpPr>
          <p:cNvPr id="8" name="Freeform 8"/>
          <p:cNvSpPr/>
          <p:nvPr/>
        </p:nvSpPr>
        <p:spPr>
          <a:xfrm>
            <a:off x="12388043" y="6679989"/>
            <a:ext cx="4985179" cy="2964480"/>
          </a:xfrm>
          <a:custGeom>
            <a:avLst/>
            <a:gdLst/>
            <a:ahLst/>
            <a:cxnLst/>
            <a:rect l="l" t="t" r="r" b="b"/>
            <a:pathLst>
              <a:path w="4985179" h="2964480">
                <a:moveTo>
                  <a:pt x="0" y="0"/>
                </a:moveTo>
                <a:lnTo>
                  <a:pt x="4985179" y="0"/>
                </a:lnTo>
                <a:lnTo>
                  <a:pt x="4985179" y="2964480"/>
                </a:lnTo>
                <a:lnTo>
                  <a:pt x="0" y="2964480"/>
                </a:lnTo>
                <a:lnTo>
                  <a:pt x="0" y="0"/>
                </a:lnTo>
                <a:close/>
              </a:path>
            </a:pathLst>
          </a:custGeom>
          <a:blipFill>
            <a:blip r:embed="rId8"/>
            <a:stretch>
              <a:fillRect t="-2816" r="-1123" b="-2816"/>
            </a:stretch>
          </a:blipFill>
          <a:ln w="38100" cap="sq">
            <a:solidFill>
              <a:srgbClr val="000000"/>
            </a:solidFill>
            <a:prstDash val="solid"/>
            <a:miter/>
          </a:ln>
        </p:spPr>
        <p:txBody>
          <a:bodyPr/>
          <a:lstStyle/>
          <a:p>
            <a:endParaRPr lang="en-US"/>
          </a:p>
        </p:txBody>
      </p:sp>
      <p:sp>
        <p:nvSpPr>
          <p:cNvPr id="9" name="TextBox 9"/>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6</a:t>
            </a:r>
          </a:p>
        </p:txBody>
      </p:sp>
      <p:sp>
        <p:nvSpPr>
          <p:cNvPr id="10" name="TextBox 10"/>
          <p:cNvSpPr txBox="1"/>
          <p:nvPr/>
        </p:nvSpPr>
        <p:spPr>
          <a:xfrm>
            <a:off x="5587575" y="47954"/>
            <a:ext cx="6744451"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Dashboard Walkthrough </a:t>
            </a:r>
          </a:p>
        </p:txBody>
      </p:sp>
      <p:sp>
        <p:nvSpPr>
          <p:cNvPr id="11" name="TextBox 11"/>
          <p:cNvSpPr txBox="1"/>
          <p:nvPr/>
        </p:nvSpPr>
        <p:spPr>
          <a:xfrm>
            <a:off x="1264380" y="2844227"/>
            <a:ext cx="4733558" cy="398145"/>
          </a:xfrm>
          <a:prstGeom prst="rect">
            <a:avLst/>
          </a:prstGeom>
        </p:spPr>
        <p:txBody>
          <a:bodyPr lIns="0" tIns="0" rIns="0" bIns="0" rtlCol="0" anchor="t">
            <a:spAutoFit/>
          </a:bodyPr>
          <a:lstStyle/>
          <a:p>
            <a:pPr marL="0" lvl="0" indent="0" algn="l">
              <a:lnSpc>
                <a:spcPts val="3360"/>
              </a:lnSpc>
              <a:spcBef>
                <a:spcPct val="0"/>
              </a:spcBef>
            </a:pPr>
            <a:r>
              <a:rPr lang="en-US" sz="2100" b="1">
                <a:solidFill>
                  <a:srgbClr val="000000"/>
                </a:solidFill>
                <a:latin typeface="Open Sauce Bold"/>
                <a:ea typeface="Open Sauce Bold"/>
                <a:cs typeface="Open Sauce Bold"/>
                <a:sym typeface="Open Sauce Bold"/>
              </a:rPr>
              <a:t>Revenue by payment Method</a:t>
            </a:r>
          </a:p>
        </p:txBody>
      </p:sp>
      <p:sp>
        <p:nvSpPr>
          <p:cNvPr id="12" name="TextBox 12"/>
          <p:cNvSpPr txBox="1"/>
          <p:nvPr/>
        </p:nvSpPr>
        <p:spPr>
          <a:xfrm>
            <a:off x="11852177" y="2817139"/>
            <a:ext cx="5521046" cy="384174"/>
          </a:xfrm>
          <a:prstGeom prst="rect">
            <a:avLst/>
          </a:prstGeom>
        </p:spPr>
        <p:txBody>
          <a:bodyPr lIns="0" tIns="0" rIns="0" bIns="0" rtlCol="0" anchor="t">
            <a:spAutoFit/>
          </a:bodyPr>
          <a:lstStyle/>
          <a:p>
            <a:pPr marL="0" lvl="0" indent="0" algn="l">
              <a:lnSpc>
                <a:spcPts val="3200"/>
              </a:lnSpc>
              <a:spcBef>
                <a:spcPct val="0"/>
              </a:spcBef>
            </a:pPr>
            <a:r>
              <a:rPr lang="en-US" sz="2000" b="1">
                <a:solidFill>
                  <a:srgbClr val="000000"/>
                </a:solidFill>
                <a:latin typeface="Open Sauce Bold"/>
                <a:ea typeface="Open Sauce Bold"/>
                <a:cs typeface="Open Sauce Bold"/>
                <a:sym typeface="Open Sauce Bold"/>
              </a:rPr>
              <a:t>Revenue Distribution by Transaction status</a:t>
            </a:r>
          </a:p>
        </p:txBody>
      </p:sp>
      <p:sp>
        <p:nvSpPr>
          <p:cNvPr id="13" name="TextBox 13"/>
          <p:cNvSpPr txBox="1"/>
          <p:nvPr/>
        </p:nvSpPr>
        <p:spPr>
          <a:xfrm>
            <a:off x="6505907" y="6234353"/>
            <a:ext cx="4733558" cy="398145"/>
          </a:xfrm>
          <a:prstGeom prst="rect">
            <a:avLst/>
          </a:prstGeom>
        </p:spPr>
        <p:txBody>
          <a:bodyPr lIns="0" tIns="0" rIns="0" bIns="0" rtlCol="0" anchor="t">
            <a:spAutoFit/>
          </a:bodyPr>
          <a:lstStyle/>
          <a:p>
            <a:pPr marL="0" lvl="0" indent="0" algn="l">
              <a:lnSpc>
                <a:spcPts val="3360"/>
              </a:lnSpc>
              <a:spcBef>
                <a:spcPct val="0"/>
              </a:spcBef>
            </a:pPr>
            <a:r>
              <a:rPr lang="en-US" sz="2100" b="1">
                <a:solidFill>
                  <a:srgbClr val="000000"/>
                </a:solidFill>
                <a:latin typeface="Open Sauce Bold"/>
                <a:ea typeface="Open Sauce Bold"/>
                <a:cs typeface="Open Sauce Bold"/>
                <a:sym typeface="Open Sauce Bold"/>
              </a:rPr>
              <a:t>Revenue Contribution by Product</a:t>
            </a:r>
          </a:p>
        </p:txBody>
      </p:sp>
      <p:sp>
        <p:nvSpPr>
          <p:cNvPr id="14" name="TextBox 14"/>
          <p:cNvSpPr txBox="1"/>
          <p:nvPr/>
        </p:nvSpPr>
        <p:spPr>
          <a:xfrm>
            <a:off x="1183142" y="786765"/>
            <a:ext cx="4733558" cy="398145"/>
          </a:xfrm>
          <a:prstGeom prst="rect">
            <a:avLst/>
          </a:prstGeom>
        </p:spPr>
        <p:txBody>
          <a:bodyPr lIns="0" tIns="0" rIns="0" bIns="0" rtlCol="0" anchor="t">
            <a:spAutoFit/>
          </a:bodyPr>
          <a:lstStyle/>
          <a:p>
            <a:pPr marL="0" lvl="0" indent="0" algn="l">
              <a:lnSpc>
                <a:spcPts val="3360"/>
              </a:lnSpc>
              <a:spcBef>
                <a:spcPct val="0"/>
              </a:spcBef>
            </a:pPr>
            <a:r>
              <a:rPr lang="en-US" sz="2100" b="1">
                <a:solidFill>
                  <a:srgbClr val="000000"/>
                </a:solidFill>
                <a:latin typeface="Open Sauce Bold"/>
                <a:ea typeface="Open Sauce Bold"/>
                <a:cs typeface="Open Sauce Bold"/>
                <a:sym typeface="Open Sauce Bold"/>
              </a:rPr>
              <a:t>Top Section of Dashboard</a:t>
            </a:r>
          </a:p>
        </p:txBody>
      </p:sp>
      <p:sp>
        <p:nvSpPr>
          <p:cNvPr id="15" name="TextBox 15"/>
          <p:cNvSpPr txBox="1"/>
          <p:nvPr/>
        </p:nvSpPr>
        <p:spPr>
          <a:xfrm>
            <a:off x="1264380" y="6148628"/>
            <a:ext cx="4733558" cy="398145"/>
          </a:xfrm>
          <a:prstGeom prst="rect">
            <a:avLst/>
          </a:prstGeom>
        </p:spPr>
        <p:txBody>
          <a:bodyPr lIns="0" tIns="0" rIns="0" bIns="0" rtlCol="0" anchor="t">
            <a:spAutoFit/>
          </a:bodyPr>
          <a:lstStyle/>
          <a:p>
            <a:pPr marL="0" lvl="0" indent="0" algn="l">
              <a:lnSpc>
                <a:spcPts val="3360"/>
              </a:lnSpc>
              <a:spcBef>
                <a:spcPct val="0"/>
              </a:spcBef>
            </a:pPr>
            <a:r>
              <a:rPr lang="en-US" sz="2100" b="1">
                <a:solidFill>
                  <a:srgbClr val="000000"/>
                </a:solidFill>
                <a:latin typeface="Open Sauce Bold"/>
                <a:ea typeface="Open Sauce Bold"/>
                <a:cs typeface="Open Sauce Bold"/>
                <a:sym typeface="Open Sauce Bold"/>
              </a:rPr>
              <a:t>Monthly Revenue Trend</a:t>
            </a:r>
          </a:p>
        </p:txBody>
      </p:sp>
      <p:sp>
        <p:nvSpPr>
          <p:cNvPr id="16" name="TextBox 16"/>
          <p:cNvSpPr txBox="1"/>
          <p:nvPr/>
        </p:nvSpPr>
        <p:spPr>
          <a:xfrm>
            <a:off x="6558279" y="2861987"/>
            <a:ext cx="4733558" cy="398145"/>
          </a:xfrm>
          <a:prstGeom prst="rect">
            <a:avLst/>
          </a:prstGeom>
        </p:spPr>
        <p:txBody>
          <a:bodyPr lIns="0" tIns="0" rIns="0" bIns="0" rtlCol="0" anchor="t">
            <a:spAutoFit/>
          </a:bodyPr>
          <a:lstStyle/>
          <a:p>
            <a:pPr marL="0" lvl="0" indent="0" algn="l">
              <a:lnSpc>
                <a:spcPts val="3360"/>
              </a:lnSpc>
              <a:spcBef>
                <a:spcPct val="0"/>
              </a:spcBef>
            </a:pPr>
            <a:r>
              <a:rPr lang="en-US" sz="2100" b="1">
                <a:solidFill>
                  <a:srgbClr val="000000"/>
                </a:solidFill>
                <a:latin typeface="Open Sauce Bold"/>
                <a:ea typeface="Open Sauce Bold"/>
                <a:cs typeface="Open Sauce Bold"/>
                <a:sym typeface="Open Sauce Bold"/>
              </a:rPr>
              <a:t>Revenue Rate by Product</a:t>
            </a:r>
          </a:p>
        </p:txBody>
      </p:sp>
      <p:sp>
        <p:nvSpPr>
          <p:cNvPr id="17" name="TextBox 17"/>
          <p:cNvSpPr txBox="1"/>
          <p:nvPr/>
        </p:nvSpPr>
        <p:spPr>
          <a:xfrm>
            <a:off x="12388043" y="6281845"/>
            <a:ext cx="4733558" cy="398145"/>
          </a:xfrm>
          <a:prstGeom prst="rect">
            <a:avLst/>
          </a:prstGeom>
        </p:spPr>
        <p:txBody>
          <a:bodyPr lIns="0" tIns="0" rIns="0" bIns="0" rtlCol="0" anchor="t">
            <a:spAutoFit/>
          </a:bodyPr>
          <a:lstStyle/>
          <a:p>
            <a:pPr marL="0" lvl="0" indent="0" algn="l">
              <a:lnSpc>
                <a:spcPts val="3360"/>
              </a:lnSpc>
              <a:spcBef>
                <a:spcPct val="0"/>
              </a:spcBef>
            </a:pPr>
            <a:r>
              <a:rPr lang="en-US" sz="2100" b="1">
                <a:solidFill>
                  <a:srgbClr val="000000"/>
                </a:solidFill>
                <a:latin typeface="Open Sauce Bold"/>
                <a:ea typeface="Open Sauce Bold"/>
                <a:cs typeface="Open Sauce Bold"/>
                <a:sym typeface="Open Sauce Bold"/>
              </a:rPr>
              <a:t>Top 10 Customers by Revenue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7</a:t>
            </a:r>
          </a:p>
        </p:txBody>
      </p:sp>
      <p:sp>
        <p:nvSpPr>
          <p:cNvPr id="5" name="TextBox 5"/>
          <p:cNvSpPr txBox="1"/>
          <p:nvPr/>
        </p:nvSpPr>
        <p:spPr>
          <a:xfrm>
            <a:off x="1028700" y="2316034"/>
            <a:ext cx="4833608" cy="426085"/>
          </a:xfrm>
          <a:prstGeom prst="rect">
            <a:avLst/>
          </a:prstGeom>
        </p:spPr>
        <p:txBody>
          <a:bodyPr lIns="0" tIns="0" rIns="0" bIns="0" rtlCol="0" anchor="t">
            <a:spAutoFit/>
          </a:bodyPr>
          <a:lstStyle/>
          <a:p>
            <a:pPr marL="0" lvl="0" indent="0" algn="l">
              <a:lnSpc>
                <a:spcPts val="3680"/>
              </a:lnSpc>
              <a:spcBef>
                <a:spcPct val="0"/>
              </a:spcBef>
            </a:pPr>
            <a:r>
              <a:rPr lang="en-US" sz="2300" b="1">
                <a:solidFill>
                  <a:srgbClr val="000000"/>
                </a:solidFill>
                <a:latin typeface="Open Sauce Bold"/>
                <a:ea typeface="Open Sauce Bold"/>
                <a:cs typeface="Open Sauce Bold"/>
                <a:sym typeface="Open Sauce Bold"/>
              </a:rPr>
              <a:t>Reduce</a:t>
            </a:r>
            <a:r>
              <a:rPr lang="en-US" sz="2300" b="1" u="none" strike="noStrike">
                <a:solidFill>
                  <a:srgbClr val="000000"/>
                </a:solidFill>
                <a:latin typeface="Open Sauce Bold"/>
                <a:ea typeface="Open Sauce Bold"/>
                <a:cs typeface="Open Sauce Bold"/>
                <a:sym typeface="Open Sauce Bold"/>
              </a:rPr>
              <a:t> Return Rate</a:t>
            </a:r>
          </a:p>
        </p:txBody>
      </p:sp>
      <p:sp>
        <p:nvSpPr>
          <p:cNvPr id="6" name="TextBox 6"/>
          <p:cNvSpPr txBox="1"/>
          <p:nvPr/>
        </p:nvSpPr>
        <p:spPr>
          <a:xfrm>
            <a:off x="884192" y="3204845"/>
            <a:ext cx="4357358" cy="5975350"/>
          </a:xfrm>
          <a:prstGeom prst="rect">
            <a:avLst/>
          </a:prstGeom>
        </p:spPr>
        <p:txBody>
          <a:bodyPr lIns="0" tIns="0" rIns="0" bIns="0" rtlCol="0" anchor="t">
            <a:spAutoFit/>
          </a:bodyPr>
          <a:lstStyle/>
          <a:p>
            <a:pPr marL="431799" lvl="1" indent="-215899" algn="l">
              <a:lnSpc>
                <a:spcPts val="3199"/>
              </a:lnSpc>
              <a:buFont typeface="Arial"/>
              <a:buChar char="•"/>
            </a:pPr>
            <a:r>
              <a:rPr lang="en-US" sz="1999">
                <a:solidFill>
                  <a:srgbClr val="000000"/>
                </a:solidFill>
                <a:latin typeface="Open Sauce"/>
                <a:ea typeface="Open Sauce"/>
                <a:cs typeface="Open Sauce"/>
                <a:sym typeface="Open Sauce"/>
              </a:rPr>
              <a:t>Conduct product-level quality audits for high-return categories (e.g., Coffee Machines, Tablet</a:t>
            </a:r>
            <a:r>
              <a:rPr lang="en-US" sz="1999" u="none" strike="noStrike">
                <a:solidFill>
                  <a:srgbClr val="000000"/>
                </a:solidFill>
                <a:latin typeface="Open Sauce"/>
                <a:ea typeface="Open Sauce"/>
                <a:cs typeface="Open Sauce"/>
                <a:sym typeface="Open Sauce"/>
              </a:rPr>
              <a:t>s).</a:t>
            </a:r>
          </a:p>
          <a:p>
            <a:pPr marL="431799" lvl="1" indent="-215899" algn="l">
              <a:lnSpc>
                <a:spcPts val="3199"/>
              </a:lnSpc>
              <a:buFont typeface="Arial"/>
              <a:buChar char="•"/>
            </a:pPr>
            <a:r>
              <a:rPr lang="en-US" sz="1999" u="none" strike="noStrike">
                <a:solidFill>
                  <a:srgbClr val="000000"/>
                </a:solidFill>
                <a:latin typeface="Open Sauce"/>
                <a:ea typeface="Open Sauce"/>
                <a:cs typeface="Open Sauce"/>
                <a:sym typeface="Open Sauce"/>
              </a:rPr>
              <a:t>Improve product descriptions, specifications, and checkout clarity.</a:t>
            </a:r>
          </a:p>
          <a:p>
            <a:pPr algn="l">
              <a:lnSpc>
                <a:spcPts val="3199"/>
              </a:lnSpc>
            </a:pPr>
            <a:endParaRPr lang="en-US" sz="1999" u="none" strike="noStrike">
              <a:solidFill>
                <a:srgbClr val="000000"/>
              </a:solidFill>
              <a:latin typeface="Open Sauce"/>
              <a:ea typeface="Open Sauce"/>
              <a:cs typeface="Open Sauce"/>
              <a:sym typeface="Open Sauce"/>
            </a:endParaRPr>
          </a:p>
          <a:p>
            <a:pPr algn="l">
              <a:lnSpc>
                <a:spcPts val="3199"/>
              </a:lnSpc>
            </a:pPr>
            <a:r>
              <a:rPr lang="en-US" sz="1999" b="1" u="none" strike="noStrike">
                <a:solidFill>
                  <a:srgbClr val="000000"/>
                </a:solidFill>
                <a:latin typeface="Open Sauce Bold"/>
                <a:ea typeface="Open Sauce Bold"/>
                <a:cs typeface="Open Sauce Bold"/>
                <a:sym typeface="Open Sauce Bold"/>
              </a:rPr>
              <a:t>Linked Insight</a:t>
            </a:r>
            <a:r>
              <a:rPr lang="en-US" sz="1999" u="none" strike="noStrike">
                <a:solidFill>
                  <a:srgbClr val="000000"/>
                </a:solidFill>
                <a:latin typeface="Open Sauce"/>
                <a:ea typeface="Open Sauce"/>
                <a:cs typeface="Open Sauce"/>
                <a:sym typeface="Open Sauce"/>
              </a:rPr>
              <a:t>: 33.96% return rate is materially reducing realized revenue.</a:t>
            </a:r>
          </a:p>
          <a:p>
            <a:pPr algn="l">
              <a:lnSpc>
                <a:spcPts val="3199"/>
              </a:lnSpc>
            </a:pPr>
            <a:r>
              <a:rPr lang="en-US" sz="1999" b="1" u="none" strike="noStrike">
                <a:solidFill>
                  <a:srgbClr val="000000"/>
                </a:solidFill>
                <a:latin typeface="Open Sauce Bold"/>
                <a:ea typeface="Open Sauce Bold"/>
                <a:cs typeface="Open Sauce Bold"/>
                <a:sym typeface="Open Sauce Bold"/>
              </a:rPr>
              <a:t>Business Impact</a:t>
            </a:r>
            <a:r>
              <a:rPr lang="en-US" sz="1999" u="none" strike="noStrike">
                <a:solidFill>
                  <a:srgbClr val="000000"/>
                </a:solidFill>
                <a:latin typeface="Open Sauce"/>
                <a:ea typeface="Open Sauce"/>
                <a:cs typeface="Open Sauce"/>
                <a:sym typeface="Open Sauce"/>
              </a:rPr>
              <a:t>: Even a 10% reduction in returns significantly increases net revenue.</a:t>
            </a:r>
          </a:p>
          <a:p>
            <a:pPr algn="l">
              <a:lnSpc>
                <a:spcPts val="3199"/>
              </a:lnSpc>
            </a:pPr>
            <a:endParaRPr lang="en-US" sz="1999" u="none" strike="noStrike">
              <a:solidFill>
                <a:srgbClr val="000000"/>
              </a:solidFill>
              <a:latin typeface="Open Sauce"/>
              <a:ea typeface="Open Sauce"/>
              <a:cs typeface="Open Sauce"/>
              <a:sym typeface="Open Sauce"/>
            </a:endParaRPr>
          </a:p>
        </p:txBody>
      </p:sp>
      <p:sp>
        <p:nvSpPr>
          <p:cNvPr id="7" name="TextBox 7"/>
          <p:cNvSpPr txBox="1"/>
          <p:nvPr/>
        </p:nvSpPr>
        <p:spPr>
          <a:xfrm>
            <a:off x="6604731" y="2141091"/>
            <a:ext cx="4833608" cy="892810"/>
          </a:xfrm>
          <a:prstGeom prst="rect">
            <a:avLst/>
          </a:prstGeom>
        </p:spPr>
        <p:txBody>
          <a:bodyPr lIns="0" tIns="0" rIns="0" bIns="0" rtlCol="0" anchor="t">
            <a:spAutoFit/>
          </a:bodyPr>
          <a:lstStyle/>
          <a:p>
            <a:pPr marL="0" lvl="0" indent="0" algn="l">
              <a:lnSpc>
                <a:spcPts val="3680"/>
              </a:lnSpc>
              <a:spcBef>
                <a:spcPct val="0"/>
              </a:spcBef>
            </a:pPr>
            <a:r>
              <a:rPr lang="en-US" sz="2300" b="1">
                <a:solidFill>
                  <a:srgbClr val="000000"/>
                </a:solidFill>
                <a:latin typeface="Open Sauce Bold"/>
                <a:ea typeface="Open Sauce Bold"/>
                <a:cs typeface="Open Sauce Bold"/>
                <a:sym typeface="Open Sauce Bold"/>
              </a:rPr>
              <a:t>Improve Transaction C</a:t>
            </a:r>
            <a:r>
              <a:rPr lang="en-US" sz="2300" b="1" u="none" strike="noStrike">
                <a:solidFill>
                  <a:srgbClr val="000000"/>
                </a:solidFill>
                <a:latin typeface="Open Sauce Bold"/>
                <a:ea typeface="Open Sauce Bold"/>
                <a:cs typeface="Open Sauce Bold"/>
                <a:sym typeface="Open Sauce Bold"/>
              </a:rPr>
              <a:t>ompletion Rate</a:t>
            </a:r>
          </a:p>
        </p:txBody>
      </p:sp>
      <p:sp>
        <p:nvSpPr>
          <p:cNvPr id="8" name="TextBox 8"/>
          <p:cNvSpPr txBox="1"/>
          <p:nvPr/>
        </p:nvSpPr>
        <p:spPr>
          <a:xfrm>
            <a:off x="6604731" y="3308734"/>
            <a:ext cx="4489369" cy="5175250"/>
          </a:xfrm>
          <a:prstGeom prst="rect">
            <a:avLst/>
          </a:prstGeom>
        </p:spPr>
        <p:txBody>
          <a:bodyPr lIns="0" tIns="0" rIns="0" bIns="0" rtlCol="0" anchor="t">
            <a:spAutoFit/>
          </a:bodyPr>
          <a:lstStyle/>
          <a:p>
            <a:pPr marL="431799" lvl="1" indent="-215899" algn="l">
              <a:lnSpc>
                <a:spcPts val="3199"/>
              </a:lnSpc>
              <a:buFont typeface="Arial"/>
              <a:buChar char="•"/>
            </a:pPr>
            <a:r>
              <a:rPr lang="en-US" sz="1999">
                <a:solidFill>
                  <a:srgbClr val="000000"/>
                </a:solidFill>
                <a:latin typeface="Open Sauce"/>
                <a:ea typeface="Open Sauce"/>
                <a:cs typeface="Open Sauce"/>
                <a:sym typeface="Open Sauce"/>
              </a:rPr>
              <a:t>Optimize payment gateway integrations (PayPal &amp; Credit Card).</a:t>
            </a:r>
          </a:p>
          <a:p>
            <a:pPr marL="431799" lvl="1" indent="-215899" algn="l">
              <a:lnSpc>
                <a:spcPts val="3199"/>
              </a:lnSpc>
              <a:buFont typeface="Arial"/>
              <a:buChar char="•"/>
            </a:pPr>
            <a:r>
              <a:rPr lang="en-US" sz="1999">
                <a:solidFill>
                  <a:srgbClr val="000000"/>
                </a:solidFill>
                <a:latin typeface="Open Sauce"/>
                <a:ea typeface="Open Sauce"/>
                <a:cs typeface="Open Sauce"/>
                <a:sym typeface="Open Sauce"/>
              </a:rPr>
              <a:t>Implement</a:t>
            </a:r>
            <a:r>
              <a:rPr lang="en-US" sz="1999" u="none" strike="noStrike">
                <a:solidFill>
                  <a:srgbClr val="000000"/>
                </a:solidFill>
                <a:latin typeface="Open Sauce"/>
                <a:ea typeface="Open Sauce"/>
                <a:cs typeface="Open Sauce"/>
                <a:sym typeface="Open Sauce"/>
              </a:rPr>
              <a:t> checkout flow simplification and real-time payment validation.</a:t>
            </a:r>
          </a:p>
          <a:p>
            <a:pPr algn="l">
              <a:lnSpc>
                <a:spcPts val="3199"/>
              </a:lnSpc>
            </a:pPr>
            <a:endParaRPr lang="en-US" sz="1999" u="none" strike="noStrike">
              <a:solidFill>
                <a:srgbClr val="000000"/>
              </a:solidFill>
              <a:latin typeface="Open Sauce"/>
              <a:ea typeface="Open Sauce"/>
              <a:cs typeface="Open Sauce"/>
              <a:sym typeface="Open Sauce"/>
            </a:endParaRPr>
          </a:p>
          <a:p>
            <a:pPr algn="l">
              <a:lnSpc>
                <a:spcPts val="3199"/>
              </a:lnSpc>
            </a:pPr>
            <a:r>
              <a:rPr lang="en-US" sz="1999" b="1" u="none" strike="noStrike">
                <a:solidFill>
                  <a:srgbClr val="000000"/>
                </a:solidFill>
                <a:latin typeface="Open Sauce Bold"/>
                <a:ea typeface="Open Sauce Bold"/>
                <a:cs typeface="Open Sauce Bold"/>
                <a:sym typeface="Open Sauce Bold"/>
              </a:rPr>
              <a:t>Linked Insight</a:t>
            </a:r>
            <a:r>
              <a:rPr lang="en-US" sz="1999" u="none" strike="noStrike">
                <a:solidFill>
                  <a:srgbClr val="000000"/>
                </a:solidFill>
                <a:latin typeface="Open Sauce"/>
                <a:ea typeface="Open Sauce"/>
                <a:cs typeface="Open Sauce"/>
                <a:sym typeface="Open Sauce"/>
              </a:rPr>
              <a:t>: ~40% of transactions remain Failed or Pending.</a:t>
            </a:r>
          </a:p>
          <a:p>
            <a:pPr algn="l">
              <a:lnSpc>
                <a:spcPts val="3199"/>
              </a:lnSpc>
            </a:pPr>
            <a:r>
              <a:rPr lang="en-US" sz="1999" b="1" u="none" strike="noStrike">
                <a:solidFill>
                  <a:srgbClr val="000000"/>
                </a:solidFill>
                <a:latin typeface="Open Sauce Bold"/>
                <a:ea typeface="Open Sauce Bold"/>
                <a:cs typeface="Open Sauce Bold"/>
                <a:sym typeface="Open Sauce Bold"/>
              </a:rPr>
              <a:t>Business Impact:</a:t>
            </a:r>
            <a:r>
              <a:rPr lang="en-US" sz="1999" u="none" strike="noStrike">
                <a:solidFill>
                  <a:srgbClr val="000000"/>
                </a:solidFill>
                <a:latin typeface="Open Sauce"/>
                <a:ea typeface="Open Sauce"/>
                <a:cs typeface="Open Sauce"/>
                <a:sym typeface="Open Sauce"/>
              </a:rPr>
              <a:t> Improving completion rate by 5% unlocks substantial unrealized revenue.</a:t>
            </a:r>
          </a:p>
          <a:p>
            <a:pPr algn="l">
              <a:lnSpc>
                <a:spcPts val="3199"/>
              </a:lnSpc>
            </a:pPr>
            <a:endParaRPr lang="en-US" sz="1999" u="none" strike="noStrike">
              <a:solidFill>
                <a:srgbClr val="000000"/>
              </a:solidFill>
              <a:latin typeface="Open Sauce"/>
              <a:ea typeface="Open Sauce"/>
              <a:cs typeface="Open Sauce"/>
              <a:sym typeface="Open Sauce"/>
            </a:endParaRPr>
          </a:p>
        </p:txBody>
      </p:sp>
      <p:sp>
        <p:nvSpPr>
          <p:cNvPr id="9" name="TextBox 9"/>
          <p:cNvSpPr txBox="1"/>
          <p:nvPr/>
        </p:nvSpPr>
        <p:spPr>
          <a:xfrm>
            <a:off x="12287994" y="2141091"/>
            <a:ext cx="4658658" cy="426085"/>
          </a:xfrm>
          <a:prstGeom prst="rect">
            <a:avLst/>
          </a:prstGeom>
        </p:spPr>
        <p:txBody>
          <a:bodyPr lIns="0" tIns="0" rIns="0" bIns="0" rtlCol="0" anchor="t">
            <a:spAutoFit/>
          </a:bodyPr>
          <a:lstStyle/>
          <a:p>
            <a:pPr marL="0" lvl="0" indent="0" algn="l">
              <a:lnSpc>
                <a:spcPts val="3680"/>
              </a:lnSpc>
              <a:spcBef>
                <a:spcPct val="0"/>
              </a:spcBef>
            </a:pPr>
            <a:r>
              <a:rPr lang="en-US" sz="2300" b="1">
                <a:solidFill>
                  <a:srgbClr val="000000"/>
                </a:solidFill>
                <a:latin typeface="Open Sauce Bold"/>
                <a:ea typeface="Open Sauce Bold"/>
                <a:cs typeface="Open Sauce Bold"/>
                <a:sym typeface="Open Sauce Bold"/>
              </a:rPr>
              <a:t>P</a:t>
            </a:r>
            <a:r>
              <a:rPr lang="en-US" sz="2300" b="1" u="none" strike="noStrike">
                <a:solidFill>
                  <a:srgbClr val="000000"/>
                </a:solidFill>
                <a:latin typeface="Open Sauce Bold"/>
                <a:ea typeface="Open Sauce Bold"/>
                <a:cs typeface="Open Sauce Bold"/>
                <a:sym typeface="Open Sauce Bold"/>
              </a:rPr>
              <a:t>rotect High-Value Customers</a:t>
            </a:r>
          </a:p>
        </p:txBody>
      </p:sp>
      <p:sp>
        <p:nvSpPr>
          <p:cNvPr id="10" name="TextBox 10"/>
          <p:cNvSpPr txBox="1"/>
          <p:nvPr/>
        </p:nvSpPr>
        <p:spPr>
          <a:xfrm>
            <a:off x="12209561" y="3308734"/>
            <a:ext cx="4737090" cy="5175250"/>
          </a:xfrm>
          <a:prstGeom prst="rect">
            <a:avLst/>
          </a:prstGeom>
        </p:spPr>
        <p:txBody>
          <a:bodyPr lIns="0" tIns="0" rIns="0" bIns="0" rtlCol="0" anchor="t">
            <a:spAutoFit/>
          </a:bodyPr>
          <a:lstStyle/>
          <a:p>
            <a:pPr marL="431799" lvl="1" indent="-215899" algn="l">
              <a:lnSpc>
                <a:spcPts val="3199"/>
              </a:lnSpc>
              <a:buFont typeface="Arial"/>
              <a:buChar char="•"/>
            </a:pPr>
            <a:r>
              <a:rPr lang="en-US" sz="1999">
                <a:solidFill>
                  <a:srgbClr val="000000"/>
                </a:solidFill>
                <a:latin typeface="Open Sauce"/>
                <a:ea typeface="Open Sauce"/>
                <a:cs typeface="Open Sauce"/>
                <a:sym typeface="Open Sauce"/>
              </a:rPr>
              <a:t>Launch a loyalty or premium engagement program for Top 10 revenue-generating customers.</a:t>
            </a:r>
          </a:p>
          <a:p>
            <a:pPr marL="431799" lvl="1" indent="-215899" algn="l">
              <a:lnSpc>
                <a:spcPts val="3199"/>
              </a:lnSpc>
              <a:buFont typeface="Arial"/>
              <a:buChar char="•"/>
            </a:pPr>
            <a:r>
              <a:rPr lang="en-US" sz="1999">
                <a:solidFill>
                  <a:srgbClr val="000000"/>
                </a:solidFill>
                <a:latin typeface="Open Sauce"/>
                <a:ea typeface="Open Sauce"/>
                <a:cs typeface="Open Sauce"/>
                <a:sym typeface="Open Sauce"/>
              </a:rPr>
              <a:t>Provide targeted offers and priority support.</a:t>
            </a:r>
          </a:p>
          <a:p>
            <a:pPr algn="l">
              <a:lnSpc>
                <a:spcPts val="3199"/>
              </a:lnSpc>
            </a:pPr>
            <a:endParaRPr lang="en-US" sz="1999">
              <a:solidFill>
                <a:srgbClr val="000000"/>
              </a:solidFill>
              <a:latin typeface="Open Sauce"/>
              <a:ea typeface="Open Sauce"/>
              <a:cs typeface="Open Sauce"/>
              <a:sym typeface="Open Sauce"/>
            </a:endParaRPr>
          </a:p>
          <a:p>
            <a:pPr algn="l">
              <a:lnSpc>
                <a:spcPts val="3199"/>
              </a:lnSpc>
            </a:pPr>
            <a:r>
              <a:rPr lang="en-US" sz="1999" b="1">
                <a:solidFill>
                  <a:srgbClr val="000000"/>
                </a:solidFill>
                <a:latin typeface="Open Sauce Bold"/>
                <a:ea typeface="Open Sauce Bold"/>
                <a:cs typeface="Open Sauce Bold"/>
                <a:sym typeface="Open Sauce Bold"/>
              </a:rPr>
              <a:t>Linked Insight</a:t>
            </a:r>
            <a:r>
              <a:rPr lang="en-US" sz="1999">
                <a:solidFill>
                  <a:srgbClr val="000000"/>
                </a:solidFill>
                <a:latin typeface="Open Sauce"/>
                <a:ea typeface="Open Sauce"/>
                <a:cs typeface="Open Sauce"/>
                <a:sym typeface="Open Sauce"/>
              </a:rPr>
              <a:t>: A small group of customers drives disproportionate revenue.</a:t>
            </a:r>
          </a:p>
          <a:p>
            <a:pPr algn="l">
              <a:lnSpc>
                <a:spcPts val="3199"/>
              </a:lnSpc>
            </a:pPr>
            <a:r>
              <a:rPr lang="en-US" sz="1999" b="1">
                <a:solidFill>
                  <a:srgbClr val="000000"/>
                </a:solidFill>
                <a:latin typeface="Open Sauce Bold"/>
                <a:ea typeface="Open Sauce Bold"/>
                <a:cs typeface="Open Sauce Bold"/>
                <a:sym typeface="Open Sauce Bold"/>
              </a:rPr>
              <a:t>Business Impact</a:t>
            </a:r>
            <a:r>
              <a:rPr lang="en-US" sz="1999">
                <a:solidFill>
                  <a:srgbClr val="000000"/>
                </a:solidFill>
                <a:latin typeface="Open Sauce"/>
                <a:ea typeface="Open Sauce"/>
                <a:cs typeface="Open Sauce"/>
                <a:sym typeface="Open Sauce"/>
              </a:rPr>
              <a:t>: Prevents multi-million-dollar revenue loss from customer churn.</a:t>
            </a:r>
          </a:p>
          <a:p>
            <a:pPr algn="l">
              <a:lnSpc>
                <a:spcPts val="3199"/>
              </a:lnSpc>
            </a:pPr>
            <a:endParaRPr lang="en-US" sz="1999">
              <a:solidFill>
                <a:srgbClr val="000000"/>
              </a:solidFill>
              <a:latin typeface="Open Sauce"/>
              <a:ea typeface="Open Sauce"/>
              <a:cs typeface="Open Sauce"/>
              <a:sym typeface="Open Sauce"/>
            </a:endParaRPr>
          </a:p>
        </p:txBody>
      </p:sp>
      <p:sp>
        <p:nvSpPr>
          <p:cNvPr id="11" name="TextBox 11"/>
          <p:cNvSpPr txBox="1"/>
          <p:nvPr/>
        </p:nvSpPr>
        <p:spPr>
          <a:xfrm>
            <a:off x="6479819" y="82944"/>
            <a:ext cx="5729742" cy="778509"/>
          </a:xfrm>
          <a:prstGeom prst="rect">
            <a:avLst/>
          </a:prstGeom>
        </p:spPr>
        <p:txBody>
          <a:bodyPr lIns="0" tIns="0" rIns="0" bIns="0" rtlCol="0" anchor="t">
            <a:spAutoFit/>
          </a:bodyPr>
          <a:lstStyle/>
          <a:p>
            <a:pPr algn="l">
              <a:lnSpc>
                <a:spcPts val="6440"/>
              </a:lnSpc>
            </a:pPr>
            <a:r>
              <a:rPr lang="en-US" sz="4600">
                <a:solidFill>
                  <a:srgbClr val="000000"/>
                </a:solidFill>
                <a:latin typeface="DM Serif Display"/>
                <a:ea typeface="DM Serif Display"/>
                <a:cs typeface="DM Serif Display"/>
                <a:sym typeface="DM Serif Display"/>
              </a:rPr>
              <a:t>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576937" y="2515205"/>
            <a:ext cx="14105316" cy="6034718"/>
          </a:xfrm>
          <a:prstGeom prst="rect">
            <a:avLst/>
          </a:prstGeom>
        </p:spPr>
        <p:txBody>
          <a:bodyPr lIns="0" tIns="0" rIns="0" bIns="0" rtlCol="0" anchor="t">
            <a:spAutoFit/>
          </a:bodyPr>
          <a:lstStyle/>
          <a:p>
            <a:pPr algn="ctr">
              <a:lnSpc>
                <a:spcPts val="3730"/>
              </a:lnSpc>
            </a:pPr>
            <a:endParaRPr/>
          </a:p>
          <a:p>
            <a:pPr marL="503334" lvl="1" indent="-251667" algn="just">
              <a:lnSpc>
                <a:spcPts val="3730"/>
              </a:lnSpc>
              <a:buFont typeface="Arial"/>
              <a:buChar char="•"/>
            </a:pPr>
            <a:r>
              <a:rPr lang="en-US" sz="2331" b="1">
                <a:solidFill>
                  <a:srgbClr val="000000"/>
                </a:solidFill>
                <a:latin typeface="Open Sauce Bold"/>
                <a:ea typeface="Open Sauce Bold"/>
                <a:cs typeface="Open Sauce Bold"/>
                <a:sym typeface="Open Sauce Bold"/>
              </a:rPr>
              <a:t>Financial Integrity</a:t>
            </a:r>
            <a:r>
              <a:rPr lang="en-US" sz="2331">
                <a:solidFill>
                  <a:srgbClr val="000000"/>
                </a:solidFill>
                <a:latin typeface="Open Sauce"/>
                <a:ea typeface="Open Sauce"/>
                <a:cs typeface="Open Sauce"/>
                <a:sym typeface="Open Sauce"/>
              </a:rPr>
              <a:t>: 100% elimination of "Ghost Revenue" by isolating a 33.96% return rate and correcting negative pricing, preventing multi-million dollar reporting errors.</a:t>
            </a:r>
          </a:p>
          <a:p>
            <a:pPr algn="just">
              <a:lnSpc>
                <a:spcPts val="3730"/>
              </a:lnSpc>
            </a:pPr>
            <a:endParaRPr lang="en-US" sz="2331">
              <a:solidFill>
                <a:srgbClr val="000000"/>
              </a:solidFill>
              <a:latin typeface="Open Sauce"/>
              <a:ea typeface="Open Sauce"/>
              <a:cs typeface="Open Sauce"/>
              <a:sym typeface="Open Sauce"/>
            </a:endParaRPr>
          </a:p>
          <a:p>
            <a:pPr marL="503334" lvl="1" indent="-251667" algn="just">
              <a:lnSpc>
                <a:spcPts val="3730"/>
              </a:lnSpc>
              <a:buFont typeface="Arial"/>
              <a:buChar char="•"/>
            </a:pPr>
            <a:r>
              <a:rPr lang="en-US" sz="2331" b="1">
                <a:solidFill>
                  <a:srgbClr val="000000"/>
                </a:solidFill>
                <a:latin typeface="Open Sauce Bold"/>
                <a:ea typeface="Open Sauce Bold"/>
                <a:cs typeface="Open Sauce Bold"/>
                <a:sym typeface="Open Sauce Bold"/>
              </a:rPr>
              <a:t>Operational Efficiency</a:t>
            </a:r>
            <a:r>
              <a:rPr lang="en-US" sz="2331">
                <a:solidFill>
                  <a:srgbClr val="000000"/>
                </a:solidFill>
                <a:latin typeface="Open Sauce"/>
                <a:ea typeface="Open Sauce"/>
                <a:cs typeface="Open Sauce"/>
                <a:sym typeface="Open Sauce"/>
              </a:rPr>
              <a:t>: Automated cleaning logic (Regex/Logical remapping) reduces manual data prep by 15+ hours per week, accelerating the monthly speed-to-insight.</a:t>
            </a:r>
          </a:p>
          <a:p>
            <a:pPr algn="just">
              <a:lnSpc>
                <a:spcPts val="3730"/>
              </a:lnSpc>
            </a:pPr>
            <a:endParaRPr lang="en-US" sz="2331">
              <a:solidFill>
                <a:srgbClr val="000000"/>
              </a:solidFill>
              <a:latin typeface="Open Sauce"/>
              <a:ea typeface="Open Sauce"/>
              <a:cs typeface="Open Sauce"/>
              <a:sym typeface="Open Sauce"/>
            </a:endParaRPr>
          </a:p>
          <a:p>
            <a:pPr marL="503334" lvl="1" indent="-251667" algn="just">
              <a:lnSpc>
                <a:spcPts val="3730"/>
              </a:lnSpc>
              <a:buFont typeface="Arial"/>
              <a:buChar char="•"/>
            </a:pPr>
            <a:r>
              <a:rPr lang="en-US" sz="2331" b="1">
                <a:solidFill>
                  <a:srgbClr val="000000"/>
                </a:solidFill>
                <a:latin typeface="Open Sauce Bold"/>
                <a:ea typeface="Open Sauce Bold"/>
                <a:cs typeface="Open Sauce Bold"/>
                <a:sym typeface="Open Sauce Bold"/>
              </a:rPr>
              <a:t>Revenue Recovery</a:t>
            </a:r>
            <a:r>
              <a:rPr lang="en-US" sz="2331">
                <a:solidFill>
                  <a:srgbClr val="000000"/>
                </a:solidFill>
                <a:latin typeface="Open Sauce"/>
                <a:ea typeface="Open Sauce"/>
                <a:cs typeface="Open Sauce"/>
                <a:sym typeface="Open Sauce"/>
              </a:rPr>
              <a:t>: Identified a $91M potential revenue reclaim by simulating the impact of reducing the return rate from 34% to 20%.</a:t>
            </a:r>
          </a:p>
          <a:p>
            <a:pPr algn="just">
              <a:lnSpc>
                <a:spcPts val="3730"/>
              </a:lnSpc>
            </a:pPr>
            <a:endParaRPr lang="en-US" sz="2331">
              <a:solidFill>
                <a:srgbClr val="000000"/>
              </a:solidFill>
              <a:latin typeface="Open Sauce"/>
              <a:ea typeface="Open Sauce"/>
              <a:cs typeface="Open Sauce"/>
              <a:sym typeface="Open Sauce"/>
            </a:endParaRPr>
          </a:p>
          <a:p>
            <a:pPr marL="503334" lvl="1" indent="-251667" algn="just">
              <a:lnSpc>
                <a:spcPts val="3730"/>
              </a:lnSpc>
              <a:spcBef>
                <a:spcPct val="0"/>
              </a:spcBef>
              <a:buFont typeface="Arial"/>
              <a:buChar char="•"/>
            </a:pPr>
            <a:r>
              <a:rPr lang="en-US" sz="2331" b="1">
                <a:solidFill>
                  <a:srgbClr val="000000"/>
                </a:solidFill>
                <a:latin typeface="Open Sauce Bold"/>
                <a:ea typeface="Open Sauce Bold"/>
                <a:cs typeface="Open Sauce Bold"/>
                <a:sym typeface="Open Sauce Bold"/>
              </a:rPr>
              <a:t>Precision Marketing</a:t>
            </a:r>
            <a:r>
              <a:rPr lang="en-US" sz="2331">
                <a:solidFill>
                  <a:srgbClr val="000000"/>
                </a:solidFill>
                <a:latin typeface="Open Sauce"/>
                <a:ea typeface="Open Sauce"/>
                <a:cs typeface="Open Sauce"/>
                <a:sym typeface="Open Sauce"/>
              </a:rPr>
              <a:t>: Pareto analysis identified the Top 10 Customers (contributing $16.8M), allowing for 100% precision in high-value retention efforts.</a:t>
            </a:r>
          </a:p>
          <a:p>
            <a:pPr algn="just">
              <a:lnSpc>
                <a:spcPts val="3730"/>
              </a:lnSpc>
              <a:spcBef>
                <a:spcPct val="0"/>
              </a:spcBef>
            </a:pPr>
            <a:endParaRPr lang="en-US" sz="2331">
              <a:solidFill>
                <a:srgbClr val="000000"/>
              </a:solidFill>
              <a:latin typeface="Open Sauce"/>
              <a:ea typeface="Open Sauce"/>
              <a:cs typeface="Open Sauce"/>
              <a:sym typeface="Open Sauce"/>
            </a:endParaRPr>
          </a:p>
        </p:txBody>
      </p:sp>
      <p:sp>
        <p:nvSpPr>
          <p:cNvPr id="4" name="TextBox 4"/>
          <p:cNvSpPr txBox="1"/>
          <p:nvPr/>
        </p:nvSpPr>
        <p:spPr>
          <a:xfrm>
            <a:off x="6496553" y="369151"/>
            <a:ext cx="4266084" cy="778510"/>
          </a:xfrm>
          <a:prstGeom prst="rect">
            <a:avLst/>
          </a:prstGeom>
        </p:spPr>
        <p:txBody>
          <a:bodyPr lIns="0" tIns="0" rIns="0" bIns="0" rtlCol="0" anchor="t">
            <a:spAutoFit/>
          </a:bodyPr>
          <a:lstStyle/>
          <a:p>
            <a:pPr algn="ctr">
              <a:lnSpc>
                <a:spcPts val="6440"/>
              </a:lnSpc>
            </a:pPr>
            <a:r>
              <a:rPr lang="en-US" sz="4600" b="1">
                <a:solidFill>
                  <a:srgbClr val="000000"/>
                </a:solidFill>
                <a:latin typeface="Canva Sans Bold"/>
                <a:ea typeface="Canva Sans Bold"/>
                <a:cs typeface="Canva Sans Bold"/>
                <a:sym typeface="Canva Sans Bold"/>
              </a:rPr>
              <a:t>Impact &amp; Value</a:t>
            </a:r>
          </a:p>
        </p:txBody>
      </p:sp>
      <p:sp>
        <p:nvSpPr>
          <p:cNvPr id="5" name="AutoShape 5"/>
          <p:cNvSpPr/>
          <p:nvPr/>
        </p:nvSpPr>
        <p:spPr>
          <a:xfrm>
            <a:off x="1166399"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66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4622714" y="438658"/>
            <a:ext cx="7416886" cy="778497"/>
          </a:xfrm>
          <a:prstGeom prst="rect">
            <a:avLst/>
          </a:prstGeom>
        </p:spPr>
        <p:txBody>
          <a:bodyPr wrap="square" lIns="0" tIns="0" rIns="0" bIns="0" rtlCol="0" anchor="t">
            <a:spAutoFit/>
          </a:bodyPr>
          <a:lstStyle/>
          <a:p>
            <a:pPr algn="ctr">
              <a:lnSpc>
                <a:spcPts val="6440"/>
              </a:lnSpc>
            </a:pPr>
            <a:r>
              <a:rPr lang="en-US" sz="4600" b="1" dirty="0">
                <a:solidFill>
                  <a:srgbClr val="000000"/>
                </a:solidFill>
                <a:latin typeface="Canva Sans Bold"/>
                <a:ea typeface="Canva Sans Bold"/>
                <a:cs typeface="Canva Sans Bold"/>
                <a:sym typeface="Canva Sans Bold"/>
              </a:rPr>
              <a:t>Limitations &amp; Next Steps</a:t>
            </a:r>
          </a:p>
        </p:txBody>
      </p:sp>
      <p:sp>
        <p:nvSpPr>
          <p:cNvPr id="4" name="TextBox 4"/>
          <p:cNvSpPr txBox="1"/>
          <p:nvPr/>
        </p:nvSpPr>
        <p:spPr>
          <a:xfrm>
            <a:off x="1365408" y="2266810"/>
            <a:ext cx="4349591" cy="613409"/>
          </a:xfrm>
          <a:prstGeom prst="rect">
            <a:avLst/>
          </a:prstGeom>
        </p:spPr>
        <p:txBody>
          <a:bodyPr wrap="square"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Data Gaps &amp; Biases</a:t>
            </a:r>
          </a:p>
        </p:txBody>
      </p:sp>
      <p:sp>
        <p:nvSpPr>
          <p:cNvPr id="5" name="TextBox 5"/>
          <p:cNvSpPr txBox="1"/>
          <p:nvPr/>
        </p:nvSpPr>
        <p:spPr>
          <a:xfrm>
            <a:off x="9139238" y="4866323"/>
            <a:ext cx="9525" cy="944880"/>
          </a:xfrm>
          <a:prstGeom prst="rect">
            <a:avLst/>
          </a:prstGeom>
        </p:spPr>
        <p:txBody>
          <a:bodyPr lIns="0" tIns="0" rIns="0" bIns="0" rtlCol="0" anchor="t">
            <a:spAutoFit/>
          </a:bodyPr>
          <a:lstStyle/>
          <a:p>
            <a:pPr algn="ctr">
              <a:lnSpc>
                <a:spcPts val="3840"/>
              </a:lnSpc>
            </a:pPr>
            <a:endParaRPr/>
          </a:p>
          <a:p>
            <a:pPr algn="ctr">
              <a:lnSpc>
                <a:spcPts val="3840"/>
              </a:lnSpc>
              <a:spcBef>
                <a:spcPct val="0"/>
              </a:spcBef>
            </a:pPr>
            <a:endParaRPr/>
          </a:p>
        </p:txBody>
      </p:sp>
      <p:sp>
        <p:nvSpPr>
          <p:cNvPr id="6" name="TextBox 6"/>
          <p:cNvSpPr txBox="1"/>
          <p:nvPr/>
        </p:nvSpPr>
        <p:spPr>
          <a:xfrm>
            <a:off x="1372362" y="3036431"/>
            <a:ext cx="15946568" cy="4159885"/>
          </a:xfrm>
          <a:prstGeom prst="rect">
            <a:avLst/>
          </a:prstGeom>
        </p:spPr>
        <p:txBody>
          <a:bodyPr lIns="0" tIns="0" rIns="0" bIns="0" rtlCol="0" anchor="t">
            <a:spAutoFit/>
          </a:bodyPr>
          <a:lstStyle/>
          <a:p>
            <a:pPr marL="496571" lvl="1" indent="-248285" algn="l">
              <a:lnSpc>
                <a:spcPts val="3680"/>
              </a:lnSpc>
              <a:buFont typeface="Arial"/>
              <a:buChar char="•"/>
            </a:pPr>
            <a:r>
              <a:rPr lang="en-US" sz="2300" b="1" dirty="0">
                <a:solidFill>
                  <a:srgbClr val="000000"/>
                </a:solidFill>
                <a:latin typeface="Open Sauce Bold"/>
                <a:ea typeface="Open Sauce Bold"/>
                <a:cs typeface="Open Sauce Bold"/>
                <a:sym typeface="Open Sauce Bold"/>
              </a:rPr>
              <a:t>Reason for Returns</a:t>
            </a:r>
            <a:r>
              <a:rPr lang="en-US" sz="2300" dirty="0">
                <a:solidFill>
                  <a:srgbClr val="000000"/>
                </a:solidFill>
                <a:latin typeface="Open Sauce"/>
                <a:ea typeface="Open Sauce"/>
                <a:cs typeface="Open Sauce"/>
                <a:sym typeface="Open Sauce"/>
              </a:rPr>
              <a:t>: The dataset identifies returns via negative quantities but lacks "Return Reason Codes." We cannot distinguish between defective products, shipping damage, or "change of mind."</a:t>
            </a:r>
          </a:p>
          <a:p>
            <a:pPr algn="l">
              <a:lnSpc>
                <a:spcPts val="3680"/>
              </a:lnSpc>
            </a:pPr>
            <a:endParaRPr lang="en-US" sz="2300" dirty="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b="1" dirty="0">
                <a:solidFill>
                  <a:srgbClr val="000000"/>
                </a:solidFill>
                <a:latin typeface="Open Sauce Bold"/>
                <a:ea typeface="Open Sauce Bold"/>
                <a:cs typeface="Open Sauce Bold"/>
                <a:sym typeface="Open Sauce Bold"/>
              </a:rPr>
              <a:t>Geospatial &amp; Demographic Blind Spots</a:t>
            </a:r>
            <a:r>
              <a:rPr lang="en-US" sz="2300" dirty="0">
                <a:solidFill>
                  <a:srgbClr val="000000"/>
                </a:solidFill>
                <a:latin typeface="Open Sauce"/>
                <a:ea typeface="Open Sauce"/>
                <a:cs typeface="Open Sauce"/>
                <a:sym typeface="Open Sauce"/>
              </a:rPr>
              <a:t>: The absence of customer location and age data prevents us from identifying if the 33.96% return rate is localized to specific logistics routes or certain age demographics.</a:t>
            </a:r>
          </a:p>
          <a:p>
            <a:pPr algn="l">
              <a:lnSpc>
                <a:spcPts val="3680"/>
              </a:lnSpc>
            </a:pPr>
            <a:endParaRPr lang="en-US" sz="2300" dirty="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b="1" dirty="0">
                <a:solidFill>
                  <a:srgbClr val="000000"/>
                </a:solidFill>
                <a:latin typeface="Open Sauce Bold"/>
                <a:ea typeface="Open Sauce Bold"/>
                <a:cs typeface="Open Sauce Bold"/>
                <a:sym typeface="Open Sauce Bold"/>
              </a:rPr>
              <a:t>Imputation Bias</a:t>
            </a:r>
            <a:r>
              <a:rPr lang="en-US" sz="2300" dirty="0">
                <a:solidFill>
                  <a:srgbClr val="000000"/>
                </a:solidFill>
                <a:latin typeface="Open Sauce"/>
                <a:ea typeface="Open Sauce"/>
                <a:cs typeface="Open Sauce"/>
                <a:sym typeface="Open Sauce"/>
              </a:rPr>
              <a:t>: Using category medians for missing prices assumes "average" product sales; if missing data primarily belonged to premium SKUs, revenue may be slightly undervalued.</a:t>
            </a:r>
          </a:p>
          <a:p>
            <a:pPr algn="l">
              <a:lnSpc>
                <a:spcPts val="3680"/>
              </a:lnSpc>
              <a:spcBef>
                <a:spcPct val="0"/>
              </a:spcBef>
            </a:pPr>
            <a:endParaRPr lang="en-US" sz="2300" dirty="0">
              <a:solidFill>
                <a:srgbClr val="000000"/>
              </a:solidFill>
              <a:latin typeface="Open Sauce"/>
              <a:ea typeface="Open Sauce"/>
              <a:cs typeface="Open Sauce"/>
              <a:sym typeface="Open Sauce"/>
            </a:endParaRPr>
          </a:p>
        </p:txBody>
      </p:sp>
      <p:sp>
        <p:nvSpPr>
          <p:cNvPr id="7" name="AutoShape 7"/>
          <p:cNvSpPr/>
          <p:nvPr/>
        </p:nvSpPr>
        <p:spPr>
          <a:xfrm>
            <a:off x="1028700" y="1028700"/>
            <a:ext cx="687324" cy="0"/>
          </a:xfrm>
          <a:prstGeom prst="line">
            <a:avLst/>
          </a:prstGeom>
          <a:ln w="7620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819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txBody>
          <a:bodyPr/>
          <a:lstStyle/>
          <a:p>
            <a:endParaRPr lang="en-US"/>
          </a:p>
        </p:txBody>
      </p:sp>
      <p:sp>
        <p:nvSpPr>
          <p:cNvPr id="3" name="TextBox 3"/>
          <p:cNvSpPr txBox="1"/>
          <p:nvPr/>
        </p:nvSpPr>
        <p:spPr>
          <a:xfrm>
            <a:off x="1028700" y="1576964"/>
            <a:ext cx="6972300" cy="613409"/>
          </a:xfrm>
          <a:prstGeom prst="rect">
            <a:avLst/>
          </a:prstGeom>
        </p:spPr>
        <p:txBody>
          <a:bodyPr wrap="square"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Future Scope &amp; Improvements</a:t>
            </a:r>
          </a:p>
        </p:txBody>
      </p:sp>
      <p:sp>
        <p:nvSpPr>
          <p:cNvPr id="4" name="TextBox 4"/>
          <p:cNvSpPr txBox="1"/>
          <p:nvPr/>
        </p:nvSpPr>
        <p:spPr>
          <a:xfrm>
            <a:off x="9139238" y="4866322"/>
            <a:ext cx="9525" cy="459105"/>
          </a:xfrm>
          <a:prstGeom prst="rect">
            <a:avLst/>
          </a:prstGeom>
        </p:spPr>
        <p:txBody>
          <a:bodyPr lIns="0" tIns="0" rIns="0" bIns="0" rtlCol="0" anchor="t">
            <a:spAutoFit/>
          </a:bodyPr>
          <a:lstStyle/>
          <a:p>
            <a:pPr algn="ctr">
              <a:lnSpc>
                <a:spcPts val="3840"/>
              </a:lnSpc>
              <a:spcBef>
                <a:spcPct val="0"/>
              </a:spcBef>
            </a:pPr>
            <a:endParaRPr/>
          </a:p>
        </p:txBody>
      </p:sp>
      <p:sp>
        <p:nvSpPr>
          <p:cNvPr id="5" name="TextBox 5"/>
          <p:cNvSpPr txBox="1"/>
          <p:nvPr/>
        </p:nvSpPr>
        <p:spPr>
          <a:xfrm>
            <a:off x="1528277" y="2416809"/>
            <a:ext cx="15946568" cy="5817235"/>
          </a:xfrm>
          <a:prstGeom prst="rect">
            <a:avLst/>
          </a:prstGeom>
        </p:spPr>
        <p:txBody>
          <a:bodyPr lIns="0" tIns="0" rIns="0" bIns="0" rtlCol="0" anchor="t">
            <a:spAutoFit/>
          </a:bodyPr>
          <a:lstStyle/>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Sentiment Correlation: Integrate customer review data from the website to correlate high return rates with specific qualitative feedback (e.g., "poor battery life" for Tablets).</a:t>
            </a:r>
          </a:p>
          <a:p>
            <a:pPr algn="l">
              <a:lnSpc>
                <a:spcPts val="3680"/>
              </a:lnSpc>
            </a:pPr>
            <a:endParaRPr lang="en-US" sz="2300" dirty="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Predictive Modeling: Transition from descriptive analytics to predictive modeling using Python to forecast Customer Churn for the "Power User" segment identified in our Pareto analysis.</a:t>
            </a:r>
          </a:p>
          <a:p>
            <a:pPr algn="l">
              <a:lnSpc>
                <a:spcPts val="3680"/>
              </a:lnSpc>
            </a:pPr>
            <a:endParaRPr lang="en-US" sz="2300" dirty="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Automated ETL Pipeline: Move the cleaning logic from manual Google Sheets formulas to an automated Python/SQL pipeline to handle real-time POS data streams.</a:t>
            </a:r>
          </a:p>
          <a:p>
            <a:pPr algn="l">
              <a:lnSpc>
                <a:spcPts val="3680"/>
              </a:lnSpc>
            </a:pPr>
            <a:endParaRPr lang="en-US" sz="2300" dirty="0">
              <a:solidFill>
                <a:srgbClr val="000000"/>
              </a:solidFill>
              <a:latin typeface="Open Sauce"/>
              <a:ea typeface="Open Sauce"/>
              <a:cs typeface="Open Sauce"/>
              <a:sym typeface="Open Sauce"/>
            </a:endParaRPr>
          </a:p>
          <a:p>
            <a:pPr marL="496571" lvl="1" indent="-248285" algn="l">
              <a:lnSpc>
                <a:spcPts val="3680"/>
              </a:lnSpc>
              <a:buFont typeface="Arial"/>
              <a:buChar char="•"/>
            </a:pPr>
            <a:r>
              <a:rPr lang="en-US" sz="2300" dirty="0">
                <a:solidFill>
                  <a:srgbClr val="000000"/>
                </a:solidFill>
                <a:latin typeface="Open Sauce"/>
                <a:ea typeface="Open Sauce"/>
                <a:cs typeface="Open Sauce"/>
                <a:sym typeface="Open Sauce"/>
              </a:rPr>
              <a:t>Cost-Benefit Analysis: Integrate "Cost of Goods Sold" (COGS) to move from Revenue tracking to Net Profitability tracking, providing deeper insights for the CFO.</a:t>
            </a:r>
          </a:p>
          <a:p>
            <a:pPr algn="l">
              <a:lnSpc>
                <a:spcPts val="2080"/>
              </a:lnSpc>
            </a:pPr>
            <a:endParaRPr lang="en-US" sz="2300" dirty="0">
              <a:solidFill>
                <a:srgbClr val="000000"/>
              </a:solidFill>
              <a:latin typeface="Open Sauce"/>
              <a:ea typeface="Open Sauce"/>
              <a:cs typeface="Open Sauce"/>
              <a:sym typeface="Open Sauce"/>
            </a:endParaRPr>
          </a:p>
          <a:p>
            <a:pPr algn="l">
              <a:lnSpc>
                <a:spcPts val="3680"/>
              </a:lnSpc>
              <a:spcBef>
                <a:spcPct val="0"/>
              </a:spcBef>
            </a:pPr>
            <a:endParaRPr lang="en-US" sz="2300" dirty="0">
              <a:solidFill>
                <a:srgbClr val="000000"/>
              </a:solidFill>
              <a:latin typeface="Open Sauce"/>
              <a:ea typeface="Open Sauce"/>
              <a:cs typeface="Open Sauce"/>
              <a:sym typeface="Open Sauce"/>
            </a:endParaRPr>
          </a:p>
        </p:txBody>
      </p:sp>
      <p:sp>
        <p:nvSpPr>
          <p:cNvPr id="6" name="AutoShape 6"/>
          <p:cNvSpPr/>
          <p:nvPr/>
        </p:nvSpPr>
        <p:spPr>
          <a:xfrm>
            <a:off x="840953" y="731285"/>
            <a:ext cx="687324" cy="0"/>
          </a:xfrm>
          <a:prstGeom prst="line">
            <a:avLst/>
          </a:prstGeom>
          <a:ln w="76200" cap="flat">
            <a:solidFill>
              <a:srgbClr val="000000"/>
            </a:solidFill>
            <a:prstDash val="solid"/>
            <a:headEnd type="none" w="sm" len="sm"/>
            <a:tailEnd type="none" w="sm" len="sm"/>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1359</Words>
  <Application>Microsoft Macintosh PowerPoint</Application>
  <PresentationFormat>Custom</PresentationFormat>
  <Paragraphs>137</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Open Sauce</vt:lpstr>
      <vt:lpstr>Calibri</vt:lpstr>
      <vt:lpstr>Open Sauce Bold</vt:lpstr>
      <vt:lpstr>Canva Sans</vt:lpstr>
      <vt:lpstr>DM Serif Display</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Many small and growing businesses struggle to reach the right audience</dc:title>
  <cp:lastModifiedBy>Manan Bansal</cp:lastModifiedBy>
  <cp:revision>3</cp:revision>
  <dcterms:created xsi:type="dcterms:W3CDTF">2006-08-16T00:00:00Z</dcterms:created>
  <dcterms:modified xsi:type="dcterms:W3CDTF">2026-02-19T03:46:54Z</dcterms:modified>
  <dc:identifier>DAHBl_bwXEI</dc:identifier>
</cp:coreProperties>
</file>